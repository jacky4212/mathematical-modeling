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775" r:id="rId3"/>
    <p:sldId id="776" r:id="rId4"/>
    <p:sldId id="777" r:id="rId5"/>
    <p:sldId id="778" r:id="rId6"/>
    <p:sldId id="779" r:id="rId7"/>
    <p:sldId id="780" r:id="rId8"/>
    <p:sldId id="781" r:id="rId9"/>
    <p:sldId id="782" r:id="rId10"/>
    <p:sldId id="783" r:id="rId11"/>
    <p:sldId id="784" r:id="rId12"/>
    <p:sldId id="785" r:id="rId13"/>
    <p:sldId id="786" r:id="rId14"/>
    <p:sldId id="787" r:id="rId15"/>
    <p:sldId id="788" r:id="rId16"/>
    <p:sldId id="789" r:id="rId17"/>
    <p:sldId id="738" r:id="rId18"/>
    <p:sldId id="739" r:id="rId19"/>
    <p:sldId id="740" r:id="rId20"/>
    <p:sldId id="790" r:id="rId21"/>
    <p:sldId id="791" r:id="rId22"/>
    <p:sldId id="792" r:id="rId23"/>
    <p:sldId id="793" r:id="rId24"/>
    <p:sldId id="794" r:id="rId25"/>
    <p:sldId id="795" r:id="rId27"/>
    <p:sldId id="796" r:id="rId28"/>
    <p:sldId id="797" r:id="rId29"/>
    <p:sldId id="798" r:id="rId30"/>
    <p:sldId id="799" r:id="rId31"/>
    <p:sldId id="800" r:id="rId32"/>
    <p:sldId id="801" r:id="rId33"/>
    <p:sldId id="802" r:id="rId34"/>
    <p:sldId id="803" r:id="rId35"/>
    <p:sldId id="804" r:id="rId36"/>
    <p:sldId id="805" r:id="rId37"/>
    <p:sldId id="806" r:id="rId38"/>
    <p:sldId id="807" r:id="rId39"/>
    <p:sldId id="808" r:id="rId40"/>
    <p:sldId id="809" r:id="rId41"/>
    <p:sldId id="810" r:id="rId42"/>
    <p:sldId id="811" r:id="rId43"/>
    <p:sldId id="812" r:id="rId44"/>
    <p:sldId id="813" r:id="rId45"/>
    <p:sldId id="814" r:id="rId46"/>
  </p:sldIdLst>
  <p:sldSz cx="9144000" cy="6858000" type="screen4x3"/>
  <p:notesSz cx="6797675" cy="9928225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003366"/>
    <a:srgbClr val="9900FF"/>
    <a:srgbClr val="CC9900"/>
    <a:srgbClr val="FF9900"/>
    <a:srgbClr val="0000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41"/>
    <p:restoredTop sz="93607"/>
  </p:normalViewPr>
  <p:slideViewPr>
    <p:cSldViewPr showGuides="1">
      <p:cViewPr varScale="1">
        <p:scale>
          <a:sx n="84" d="100"/>
          <a:sy n="84" d="100"/>
        </p:scale>
        <p:origin x="11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CA050D-8366-4652-8734-D1238EC320C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3FAF2B-3E44-442A-8035-1BCC7B0817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幻灯片图像占位符 222209"/>
          <p:cNvSpPr>
            <a:spLocks noRo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315" name="文本占位符 222210"/>
          <p:cNvSpPr>
            <a:spLocks noGrp="1"/>
          </p:cNvSpPr>
          <p:nvPr>
            <p:ph type="body"/>
          </p:nvPr>
        </p:nvSpPr>
        <p:spPr>
          <a:xfrm>
            <a:off x="906463" y="4716463"/>
            <a:ext cx="4984750" cy="4467225"/>
          </a:xfrm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3316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幻灯片图像占位符 222209"/>
          <p:cNvSpPr>
            <a:spLocks noRo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文本占位符 222210"/>
          <p:cNvSpPr>
            <a:spLocks noGrp="1"/>
          </p:cNvSpPr>
          <p:nvPr>
            <p:ph type="body"/>
          </p:nvPr>
        </p:nvSpPr>
        <p:spPr>
          <a:xfrm>
            <a:off x="906463" y="4716463"/>
            <a:ext cx="4984750" cy="4467225"/>
          </a:xfrm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7412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222209"/>
          <p:cNvSpPr>
            <a:spLocks noRo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文本占位符 222210"/>
          <p:cNvSpPr>
            <a:spLocks noGrp="1"/>
          </p:cNvSpPr>
          <p:nvPr>
            <p:ph type="body"/>
          </p:nvPr>
        </p:nvSpPr>
        <p:spPr>
          <a:xfrm>
            <a:off x="906463" y="4716463"/>
            <a:ext cx="4984750" cy="4467225"/>
          </a:xfrm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21508" name="灯片编号占位符 1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3B95CE-431E-4800-9C59-4003AA52E4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96A69-C959-4C02-B399-1A17438A0E6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8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6.w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4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09838" y="2771775"/>
            <a:ext cx="3214688" cy="173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400" kern="0" cap="none" spc="0" normalizeH="0" baseline="0" noProof="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插值与拟合</a:t>
            </a:r>
            <a:endParaRPr kumimoji="0" lang="en-US" altLang="zh-CN" sz="4400" kern="0" cap="none" spc="0" normalizeH="0" baseline="0" noProof="0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076" name="TextBox 5"/>
          <p:cNvSpPr txBox="1"/>
          <p:nvPr/>
        </p:nvSpPr>
        <p:spPr>
          <a:xfrm>
            <a:off x="3492500" y="4868863"/>
            <a:ext cx="47529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邹志伟       </a:t>
            </a:r>
            <a:r>
              <a:rPr lang="en-US" altLang="zh-CN" sz="2800" b="1" dirty="0">
                <a:latin typeface="Arial" panose="020B0604020202020204" pitchFamily="34" charset="0"/>
              </a:rPr>
              <a:t>2026</a:t>
            </a:r>
            <a:r>
              <a:rPr lang="zh-CN" altLang="en-US" sz="2800" b="1" dirty="0">
                <a:latin typeface="Arial" panose="020B0604020202020204" pitchFamily="34" charset="0"/>
              </a:rPr>
              <a:t>年</a:t>
            </a:r>
            <a:r>
              <a:rPr lang="en-US" altLang="zh-CN" sz="2800" b="1" dirty="0">
                <a:latin typeface="Arial" panose="020B0604020202020204" pitchFamily="34" charset="0"/>
              </a:rPr>
              <a:t>7</a:t>
            </a:r>
            <a:r>
              <a:rPr lang="zh-CN" altLang="en-US" sz="2800" b="1" dirty="0">
                <a:latin typeface="Arial" panose="020B0604020202020204" pitchFamily="34" charset="0"/>
              </a:rPr>
              <a:t>月</a:t>
            </a:r>
            <a:r>
              <a:rPr lang="en-US" altLang="zh-CN" sz="2800" b="1" dirty="0">
                <a:latin typeface="Arial" panose="020B0604020202020204" pitchFamily="34" charset="0"/>
              </a:rPr>
              <a:t>10</a:t>
            </a:r>
            <a:r>
              <a:rPr lang="zh-CN" altLang="en-US" sz="2800" b="1" dirty="0">
                <a:latin typeface="Arial" panose="020B0604020202020204" pitchFamily="34" charset="0"/>
              </a:rPr>
              <a:t>日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5724525" y="274638"/>
            <a:ext cx="274637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dirty="0">
                <a:solidFill>
                  <a:srgbClr val="FF00FF"/>
                </a:solidFill>
              </a:rPr>
              <a:t>二维图形</a:t>
            </a:r>
            <a:endParaRPr lang="zh-CN" altLang="zh-CN" dirty="0">
              <a:solidFill>
                <a:srgbClr val="FF00FF"/>
              </a:solidFill>
            </a:endParaRPr>
          </a:p>
        </p:txBody>
      </p:sp>
      <p:sp>
        <p:nvSpPr>
          <p:cNvPr id="50179" name="文本占位符 50178"/>
          <p:cNvSpPr>
            <a:spLocks noGrp="1"/>
          </p:cNvSpPr>
          <p:nvPr>
            <p:ph type="body" idx="1"/>
          </p:nvPr>
        </p:nvSpPr>
        <p:spPr>
          <a:xfrm>
            <a:off x="468313" y="1339533"/>
            <a:ext cx="8229600" cy="5106987"/>
          </a:xfrm>
        </p:spPr>
        <p:txBody>
          <a:bodyPr/>
          <a:lstStyle/>
          <a:p>
            <a:r>
              <a:rPr lang="en-US" altLang="zh-CN">
                <a:solidFill>
                  <a:schemeClr val="tx2"/>
                </a:solidFill>
                <a:effectLst/>
              </a:rPr>
              <a:t>plot</a:t>
            </a:r>
            <a:r>
              <a:rPr lang="zh-CN" altLang="en-US" dirty="0">
                <a:solidFill>
                  <a:schemeClr val="tx2"/>
                </a:solidFill>
                <a:effectLst/>
              </a:rPr>
              <a:t>的调用格式</a:t>
            </a:r>
            <a:r>
              <a:rPr lang="zh-CN" altLang="en-US" dirty="0">
                <a:effectLst/>
              </a:rPr>
              <a:t> </a:t>
            </a:r>
            <a:endParaRPr lang="zh-CN" altLang="en-US" dirty="0">
              <a:effectLst/>
            </a:endParaRPr>
          </a:p>
          <a:p>
            <a:pPr lvl="1">
              <a:buNone/>
            </a:pP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–</a:t>
            </a:r>
            <a:r>
              <a:rPr lang="en-US" altLang="zh-CN" sz="2800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plot(x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)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 —— 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缺省自变量绘图格式 </a:t>
            </a:r>
            <a:endParaRPr lang="zh-CN" altLang="en-US" sz="2800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1">
              <a:buNone/>
            </a:pP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–</a:t>
            </a:r>
            <a:r>
              <a:rPr lang="en-US" altLang="zh-CN" sz="2800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plot(x,y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)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 —— 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基本格式，以</a:t>
            </a:r>
            <a:r>
              <a:rPr lang="en-US" altLang="zh-CN" sz="2800" err="1">
                <a:effectLst>
                  <a:outerShdw blurRad="38100" dist="38100" dir="2700000">
                    <a:srgbClr val="C0C0C0"/>
                  </a:outerShdw>
                </a:effectLst>
              </a:rPr>
              <a:t>y(x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的函数关系作出直角坐标图，如果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y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为</a:t>
            </a:r>
            <a:r>
              <a:rPr lang="en-US" altLang="zh-CN" sz="2800" err="1">
                <a:effectLst>
                  <a:outerShdw blurRad="38100" dist="38100" dir="2700000">
                    <a:srgbClr val="C0C0C0"/>
                  </a:outerShdw>
                </a:effectLst>
              </a:rPr>
              <a:t>n×m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的矩阵，则以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x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为自变量，作出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m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条曲线 </a:t>
            </a:r>
            <a:endParaRPr lang="zh-CN" altLang="en-US" sz="2800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1">
              <a:buNone/>
            </a:pP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–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plot(x1,y1,x2,y2,…,</a:t>
            </a:r>
            <a:r>
              <a:rPr lang="en-US" altLang="zh-CN" sz="2800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xn,yn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)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 —— 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多条曲线绘图格式 </a:t>
            </a:r>
            <a:endParaRPr lang="zh-CN" altLang="en-US" sz="2800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1">
              <a:buNone/>
            </a:pP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–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plot(x1,y1,</a:t>
            </a:r>
            <a:r>
              <a:rPr lang="zh-CN" altLang="en-US" sz="2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选项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1,x2,y2, </a:t>
            </a:r>
            <a:r>
              <a:rPr lang="zh-CN" altLang="en-US" sz="2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选项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2,…,</a:t>
            </a:r>
            <a:r>
              <a:rPr lang="en-US" altLang="zh-CN" sz="2800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xn,yn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,</a:t>
            </a:r>
            <a:r>
              <a:rPr lang="zh-CN" altLang="en-US" sz="2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选项</a:t>
            </a: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n)</a:t>
            </a:r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——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含选项的绘图格式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  <a:t> 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endParaRPr lang="zh-CN" altLang="en-US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035" name="内容占位符 5603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95288" y="1133158"/>
          <a:ext cx="8229600" cy="5692775"/>
        </p:xfrm>
        <a:graphic>
          <a:graphicData uri="http://schemas.openxmlformats.org/drawingml/2006/table">
            <a:tbl>
              <a:tblPr/>
              <a:tblGrid>
                <a:gridCol w="1223963"/>
                <a:gridCol w="792162"/>
                <a:gridCol w="1216025"/>
                <a:gridCol w="1042988"/>
                <a:gridCol w="2085975"/>
                <a:gridCol w="1868487"/>
              </a:tblGrid>
              <a:tr h="39528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颜色参数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颜色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线型参数</a:t>
                      </a:r>
                      <a:endParaRPr lang="zh-CN" altLang="en-US" sz="2000" dirty="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线型</a:t>
                      </a:r>
                      <a:endParaRPr lang="zh-CN" altLang="en-US" sz="2000" dirty="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标记符号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标记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7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</a:t>
                      </a:r>
                      <a:endParaRPr lang="en-US" altLang="zh-CN" sz="320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实线</a:t>
                      </a:r>
                      <a:endParaRPr lang="zh-CN" altLang="en-US" sz="2000" dirty="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65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.</a:t>
                      </a:r>
                      <a:endParaRPr lang="en-US" altLang="zh-CN" sz="32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圆点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绿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7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:</a:t>
                      </a:r>
                      <a:endParaRPr lang="en-US" altLang="zh-CN" sz="320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点线</a:t>
                      </a:r>
                      <a:endParaRPr lang="zh-CN" altLang="en-US" sz="2000" dirty="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65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</a:t>
                      </a:r>
                      <a:endParaRPr lang="en-US" altLang="zh-CN" sz="32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圆圈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7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-.</a:t>
                      </a:r>
                      <a:endParaRPr lang="en-US" altLang="zh-CN" sz="320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点划线</a:t>
                      </a:r>
                      <a:endParaRPr lang="zh-CN" altLang="en-US" sz="2000" dirty="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65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endParaRPr lang="en-US" altLang="zh-CN" sz="32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加号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青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7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--</a:t>
                      </a:r>
                      <a:endParaRPr lang="en-US" altLang="zh-CN" sz="320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虚线</a:t>
                      </a:r>
                      <a:endParaRPr lang="zh-CN" altLang="en-US" sz="2000" dirty="0">
                        <a:solidFill>
                          <a:srgbClr val="CC33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65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32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*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星号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7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品红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lnSpc>
                          <a:spcPct val="65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32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endParaRPr lang="en-US" altLang="zh-CN" sz="32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叉号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y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黄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'square ' </a:t>
                      </a: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 </a:t>
                      </a: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方块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'diamond' </a:t>
                      </a: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 </a:t>
                      </a: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菱形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w</a:t>
                      </a: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66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</a:t>
                      </a: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^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朝上三角符号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2000" dirty="0">
                        <a:solidFill>
                          <a:srgbClr val="6600FF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朝下三角符号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&lt;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朝左三角符号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&gt;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朝右三角符号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五角星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</a:t>
                      </a:r>
                      <a:endParaRPr lang="en-US" altLang="zh-CN" sz="200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6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669925" lvl="1" indent="-3257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2pPr>
                      <a:lvl3pPr marL="1022350" lvl="2" indent="-35115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3pPr>
                      <a:lvl4pPr marL="1339850" lvl="3" indent="-31623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4pPr>
                      <a:lvl5pPr marL="1681480" lvl="4" indent="-339725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n-lt"/>
                          <a:ea typeface="+mn-ea"/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六角星</a:t>
                      </a:r>
                      <a:endParaRPr lang="zh-CN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5724525" y="274638"/>
            <a:ext cx="274637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dirty="0">
                <a:solidFill>
                  <a:srgbClr val="FF00FF"/>
                </a:solidFill>
              </a:rPr>
              <a:t>二维图形</a:t>
            </a:r>
            <a:endParaRPr lang="zh-CN" altLang="zh-CN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5724525" y="274638"/>
            <a:ext cx="274637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dirty="0">
                <a:solidFill>
                  <a:srgbClr val="FF00FF"/>
                </a:solidFill>
              </a:rPr>
              <a:t>二维图形</a:t>
            </a:r>
            <a:endParaRPr lang="zh-CN" altLang="zh-CN" dirty="0">
              <a:solidFill>
                <a:srgbClr val="FF00FF"/>
              </a:solidFill>
            </a:endParaRPr>
          </a:p>
        </p:txBody>
      </p:sp>
      <p:sp>
        <p:nvSpPr>
          <p:cNvPr id="62466" name="标题 62465"/>
          <p:cNvSpPr/>
          <p:nvPr/>
        </p:nvSpPr>
        <p:spPr>
          <a:xfrm>
            <a:off x="324168" y="1193165"/>
            <a:ext cx="8229600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effectLst/>
              </a:rPr>
              <a:t>绘制图形的辅助操作</a:t>
            </a:r>
            <a:r>
              <a:rPr lang="en-US" altLang="zh-CN" sz="3600">
                <a:effectLst/>
              </a:rPr>
              <a:t>—</a:t>
            </a:r>
            <a:r>
              <a:rPr lang="zh-CN" altLang="en-US" sz="3200" dirty="0">
                <a:solidFill>
                  <a:srgbClr val="0000FF"/>
                </a:solidFill>
                <a:effectLst/>
                <a:ea typeface="楷体" panose="02010609060101010101" pitchFamily="49" charset="-122"/>
              </a:rPr>
              <a:t>图形标注</a:t>
            </a:r>
            <a:endParaRPr lang="zh-CN" altLang="en-US" sz="3200" dirty="0">
              <a:solidFill>
                <a:srgbClr val="0000FF"/>
              </a:solidFill>
              <a:effectLst/>
              <a:ea typeface="楷体" panose="02010609060101010101" pitchFamily="49" charset="-122"/>
            </a:endParaRPr>
          </a:p>
        </p:txBody>
      </p:sp>
      <p:sp>
        <p:nvSpPr>
          <p:cNvPr id="62467" name="文本占位符 62466"/>
          <p:cNvSpPr>
            <a:spLocks noGrp="1"/>
          </p:cNvSpPr>
          <p:nvPr>
            <p:ph type="body" idx="1"/>
          </p:nvPr>
        </p:nvSpPr>
        <p:spPr>
          <a:xfrm>
            <a:off x="324168" y="1985328"/>
            <a:ext cx="8229600" cy="5106987"/>
          </a:xfrm>
        </p:spPr>
        <p:txBody>
          <a:bodyPr/>
          <a:lstStyle/>
          <a:p>
            <a:r>
              <a:rPr lang="zh-CN" altLang="en-US" dirty="0">
                <a:effectLst/>
              </a:rPr>
              <a:t>   图形标注函数的调用格式： 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</a:t>
            </a:r>
            <a:r>
              <a:rPr lang="en-US" altLang="zh-CN">
                <a:solidFill>
                  <a:srgbClr val="CC3300"/>
                </a:solidFill>
                <a:effectLst/>
              </a:rPr>
              <a:t>title</a:t>
            </a:r>
            <a:r>
              <a:rPr lang="en-US" altLang="zh-CN">
                <a:effectLst/>
              </a:rPr>
              <a:t>(</a:t>
            </a:r>
            <a:r>
              <a:rPr lang="zh-CN" altLang="en-US" dirty="0">
                <a:effectLst/>
              </a:rPr>
              <a:t>图形名称</a:t>
            </a:r>
            <a:r>
              <a:rPr lang="en-US" altLang="zh-CN">
                <a:effectLst/>
              </a:rPr>
              <a:t>) </a:t>
            </a:r>
            <a:endParaRPr lang="en-US" altLang="zh-CN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</a:t>
            </a:r>
            <a:r>
              <a:rPr lang="en-US" altLang="zh-CN" err="1">
                <a:solidFill>
                  <a:srgbClr val="CC3300"/>
                </a:solidFill>
                <a:effectLst/>
              </a:rPr>
              <a:t>xlabel</a:t>
            </a:r>
            <a:r>
              <a:rPr lang="en-US" altLang="zh-CN" err="1">
                <a:effectLst/>
              </a:rPr>
              <a:t>(x</a:t>
            </a:r>
            <a:r>
              <a:rPr lang="zh-CN" altLang="en-US" dirty="0">
                <a:effectLst/>
              </a:rPr>
              <a:t>轴说明</a:t>
            </a:r>
            <a:r>
              <a:rPr lang="en-US" altLang="zh-CN">
                <a:effectLst/>
              </a:rPr>
              <a:t>) </a:t>
            </a:r>
            <a:endParaRPr lang="en-US" altLang="zh-CN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</a:t>
            </a:r>
            <a:r>
              <a:rPr lang="en-US" altLang="zh-CN" err="1">
                <a:solidFill>
                  <a:srgbClr val="CC3300"/>
                </a:solidFill>
                <a:effectLst/>
              </a:rPr>
              <a:t>ylabel</a:t>
            </a:r>
            <a:r>
              <a:rPr lang="en-US" altLang="zh-CN" err="1">
                <a:effectLst/>
              </a:rPr>
              <a:t>(y</a:t>
            </a:r>
            <a:r>
              <a:rPr lang="zh-CN" altLang="en-US" dirty="0">
                <a:effectLst/>
              </a:rPr>
              <a:t>轴说明</a:t>
            </a:r>
            <a:r>
              <a:rPr lang="en-US" altLang="zh-CN">
                <a:effectLst/>
              </a:rPr>
              <a:t>) </a:t>
            </a:r>
            <a:endParaRPr lang="en-US" altLang="zh-CN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</a:t>
            </a:r>
            <a:r>
              <a:rPr lang="en-US" altLang="zh-CN" err="1">
                <a:solidFill>
                  <a:srgbClr val="CC3300"/>
                </a:solidFill>
                <a:effectLst/>
              </a:rPr>
              <a:t>text</a:t>
            </a:r>
            <a:r>
              <a:rPr lang="en-US" altLang="zh-CN" err="1">
                <a:effectLst/>
              </a:rPr>
              <a:t>(x,y</a:t>
            </a:r>
            <a:r>
              <a:rPr lang="en-US" altLang="zh-CN">
                <a:effectLst/>
              </a:rPr>
              <a:t>,</a:t>
            </a:r>
            <a:r>
              <a:rPr lang="zh-CN" altLang="en-US" dirty="0">
                <a:effectLst/>
              </a:rPr>
              <a:t>图形说明</a:t>
            </a:r>
            <a:r>
              <a:rPr lang="en-US" altLang="zh-CN">
                <a:effectLst/>
              </a:rPr>
              <a:t>)    </a:t>
            </a:r>
            <a:r>
              <a:rPr lang="zh-CN" altLang="en-US" dirty="0">
                <a:effectLst/>
              </a:rPr>
              <a:t>在</a:t>
            </a:r>
            <a:r>
              <a:rPr lang="en-US" altLang="zh-CN" err="1">
                <a:effectLst/>
              </a:rPr>
              <a:t>x,y</a:t>
            </a:r>
            <a:r>
              <a:rPr lang="zh-CN" altLang="en-US" dirty="0">
                <a:effectLst/>
              </a:rPr>
              <a:t>坐标处添加文字说明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</a:t>
            </a:r>
            <a:r>
              <a:rPr lang="en-US" altLang="zh-CN">
                <a:solidFill>
                  <a:srgbClr val="CC3300"/>
                </a:solidFill>
                <a:effectLst/>
              </a:rPr>
              <a:t>legend</a:t>
            </a:r>
            <a:r>
              <a:rPr lang="en-US" altLang="zh-CN">
                <a:effectLst/>
              </a:rPr>
              <a:t>(</a:t>
            </a:r>
            <a:r>
              <a:rPr lang="zh-CN" altLang="en-US" dirty="0">
                <a:effectLst/>
              </a:rPr>
              <a:t>图例</a:t>
            </a:r>
            <a:r>
              <a:rPr lang="en-US" altLang="zh-CN">
                <a:effectLst/>
              </a:rPr>
              <a:t>1,</a:t>
            </a:r>
            <a:r>
              <a:rPr lang="zh-CN" altLang="en-US" dirty="0">
                <a:effectLst/>
              </a:rPr>
              <a:t>图例</a:t>
            </a:r>
            <a:r>
              <a:rPr lang="en-US" altLang="zh-CN">
                <a:effectLst/>
              </a:rPr>
              <a:t>2,…) </a:t>
            </a:r>
            <a:endParaRPr lang="zh-CN" altLang="en-US" dirty="0">
              <a:effectLst/>
            </a:endParaRPr>
          </a:p>
          <a:p>
            <a:endParaRPr lang="zh-CN" altLang="en-US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文本占位符 58370"/>
          <p:cNvSpPr>
            <a:spLocks noGrp="1"/>
          </p:cNvSpPr>
          <p:nvPr>
            <p:ph type="body" idx="1"/>
          </p:nvPr>
        </p:nvSpPr>
        <p:spPr>
          <a:xfrm>
            <a:off x="468313" y="1052513"/>
            <a:ext cx="8229600" cy="5106987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sz="2600" dirty="0">
                <a:effectLst/>
              </a:rPr>
              <a:t>例 </a:t>
            </a:r>
            <a:endParaRPr lang="zh-CN" altLang="en-US" sz="2600" dirty="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t=0:0.1:10;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y1=sin(t);y2=cos(t);plot(t,y1,'r',t,y2,'b-');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x=[1.7*pi;1.6*pi];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y=[-0.3;0.8];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s=['</a:t>
            </a:r>
            <a:r>
              <a:rPr lang="en-US" altLang="zh-CN" sz="2600" err="1">
                <a:effectLst/>
              </a:rPr>
              <a:t>sin(t)';'cos(t</a:t>
            </a:r>
            <a:r>
              <a:rPr lang="en-US" altLang="zh-CN" sz="2600">
                <a:effectLst/>
              </a:rPr>
              <a:t>)'];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</a:t>
            </a:r>
            <a:r>
              <a:rPr lang="en-US" altLang="zh-CN" sz="2600" err="1">
                <a:effectLst/>
              </a:rPr>
              <a:t>text(x,y,s</a:t>
            </a:r>
            <a:r>
              <a:rPr lang="en-US" altLang="zh-CN" sz="2600">
                <a:effectLst/>
              </a:rPr>
              <a:t>);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title('</a:t>
            </a:r>
            <a:r>
              <a:rPr lang="zh-CN" altLang="en-US" sz="2600" dirty="0">
                <a:effectLst/>
              </a:rPr>
              <a:t>正弦和余弦曲线</a:t>
            </a:r>
            <a:r>
              <a:rPr lang="en-US" altLang="zh-CN" sz="2600">
                <a:effectLst/>
              </a:rPr>
              <a:t>');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legend('</a:t>
            </a:r>
            <a:r>
              <a:rPr lang="zh-CN" altLang="en-US" sz="2600" dirty="0">
                <a:effectLst/>
              </a:rPr>
              <a:t>正弦</a:t>
            </a:r>
            <a:r>
              <a:rPr lang="en-US" altLang="zh-CN" sz="2600">
                <a:effectLst/>
              </a:rPr>
              <a:t>','</a:t>
            </a:r>
            <a:r>
              <a:rPr lang="zh-CN" altLang="en-US" sz="2600" dirty="0">
                <a:effectLst/>
              </a:rPr>
              <a:t>余弦</a:t>
            </a:r>
            <a:r>
              <a:rPr lang="en-US" altLang="zh-CN" sz="2600">
                <a:effectLst/>
              </a:rPr>
              <a:t>');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</a:t>
            </a:r>
            <a:r>
              <a:rPr lang="en-US" altLang="zh-CN" sz="2600" err="1">
                <a:effectLst/>
              </a:rPr>
              <a:t>xlabel</a:t>
            </a:r>
            <a:r>
              <a:rPr lang="en-US" altLang="zh-CN" sz="2600">
                <a:effectLst/>
              </a:rPr>
              <a:t>('</a:t>
            </a:r>
            <a:r>
              <a:rPr lang="zh-CN" altLang="en-US" sz="2600" dirty="0">
                <a:effectLst/>
              </a:rPr>
              <a:t>时间</a:t>
            </a:r>
            <a:r>
              <a:rPr lang="en-US" altLang="zh-CN" sz="2600">
                <a:effectLst/>
              </a:rPr>
              <a:t>t'); </a:t>
            </a:r>
            <a:endParaRPr lang="en-US" altLang="zh-CN" sz="260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effectLst/>
              </a:rPr>
              <a:t>   </a:t>
            </a:r>
            <a:r>
              <a:rPr lang="en-US" altLang="zh-CN" sz="2600" err="1">
                <a:effectLst/>
              </a:rPr>
              <a:t>ylabel</a:t>
            </a:r>
            <a:r>
              <a:rPr lang="en-US" altLang="zh-CN" sz="2600">
                <a:effectLst/>
              </a:rPr>
              <a:t>('</a:t>
            </a:r>
            <a:r>
              <a:rPr lang="zh-CN" altLang="en-US" sz="2600" dirty="0">
                <a:effectLst/>
              </a:rPr>
              <a:t>正弦、余弦</a:t>
            </a:r>
            <a:r>
              <a:rPr lang="en-US" altLang="zh-CN" sz="2600">
                <a:effectLst/>
              </a:rPr>
              <a:t>'); </a:t>
            </a:r>
            <a:endParaRPr lang="zh-CN" altLang="en-US" sz="2600" dirty="0">
              <a:effectLst/>
            </a:endParaRPr>
          </a:p>
        </p:txBody>
      </p:sp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5724525" y="274638"/>
            <a:ext cx="274637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dirty="0">
                <a:solidFill>
                  <a:srgbClr val="FF00FF"/>
                </a:solidFill>
              </a:rPr>
              <a:t>二维图形</a:t>
            </a:r>
            <a:endParaRPr lang="zh-CN" altLang="zh-CN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65537"/>
          <p:cNvSpPr>
            <a:spLocks noGrp="1"/>
          </p:cNvSpPr>
          <p:nvPr>
            <p:ph type="title"/>
          </p:nvPr>
        </p:nvSpPr>
        <p:spPr>
          <a:xfrm>
            <a:off x="468313" y="1767205"/>
            <a:ext cx="8229600" cy="647700"/>
          </a:xfrm>
        </p:spPr>
        <p:txBody>
          <a:bodyPr/>
          <a:lstStyle/>
          <a:p>
            <a:r>
              <a:rPr lang="zh-CN" altLang="en-US" sz="3600" dirty="0">
                <a:effectLst/>
              </a:rPr>
              <a:t>绘制图形的辅助操作</a:t>
            </a:r>
            <a:r>
              <a:rPr lang="en-US" altLang="zh-CN" sz="3600">
                <a:effectLst/>
              </a:rPr>
              <a:t>—</a:t>
            </a:r>
            <a:r>
              <a:rPr lang="zh-CN" altLang="en-US" sz="3200" dirty="0">
                <a:solidFill>
                  <a:srgbClr val="0000FF"/>
                </a:solidFill>
                <a:effectLst/>
                <a:ea typeface="楷体" panose="02010609060101010101" pitchFamily="49" charset="-122"/>
              </a:rPr>
              <a:t>图形窗口的分割</a:t>
            </a:r>
            <a:endParaRPr lang="zh-CN" altLang="en-US" sz="3200" dirty="0">
              <a:solidFill>
                <a:srgbClr val="0000FF"/>
              </a:solidFill>
              <a:effectLst/>
              <a:ea typeface="楷体" panose="02010609060101010101" pitchFamily="49" charset="-122"/>
            </a:endParaRPr>
          </a:p>
        </p:txBody>
      </p:sp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xfrm>
            <a:off x="468313" y="2559368"/>
            <a:ext cx="8229600" cy="5106987"/>
          </a:xfrm>
        </p:spPr>
        <p:txBody>
          <a:bodyPr/>
          <a:lstStyle/>
          <a:p>
            <a:r>
              <a:rPr lang="zh-CN" altLang="en-US" dirty="0">
                <a:effectLst/>
              </a:rPr>
              <a:t>函数格式：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</a:t>
            </a:r>
            <a:r>
              <a:rPr lang="en-US" altLang="zh-CN" err="1">
                <a:effectLst/>
              </a:rPr>
              <a:t>subplot(m,n,p</a:t>
            </a:r>
            <a:r>
              <a:rPr lang="en-US" altLang="zh-CN">
                <a:effectLst/>
              </a:rPr>
              <a:t>) </a:t>
            </a:r>
            <a:endParaRPr lang="en-US" altLang="zh-CN">
              <a:effectLst/>
            </a:endParaRPr>
          </a:p>
          <a:p>
            <a:pPr>
              <a:buNone/>
            </a:pPr>
            <a:r>
              <a:rPr lang="zh-CN" altLang="en-US" dirty="0">
                <a:effectLst/>
              </a:rPr>
              <a:t>    将一个绘图窗口分割成 </a:t>
            </a:r>
            <a:r>
              <a:rPr lang="en-US" altLang="zh-CN">
                <a:solidFill>
                  <a:srgbClr val="CC3300"/>
                </a:solidFill>
                <a:effectLst/>
              </a:rPr>
              <a:t>m*n </a:t>
            </a:r>
            <a:r>
              <a:rPr lang="zh-CN" altLang="en-US" dirty="0">
                <a:effectLst/>
              </a:rPr>
              <a:t>个子区域，并按</a:t>
            </a:r>
            <a:r>
              <a:rPr lang="zh-CN" altLang="en-US" dirty="0">
                <a:solidFill>
                  <a:srgbClr val="CC3300"/>
                </a:solidFill>
                <a:effectLst/>
              </a:rPr>
              <a:t>行</a:t>
            </a:r>
            <a:r>
              <a:rPr lang="zh-CN" altLang="en-US" dirty="0">
                <a:effectLst/>
              </a:rPr>
              <a:t>从左至右 ，由上至下 依次编号 。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 p </a:t>
            </a:r>
            <a:r>
              <a:rPr lang="zh-CN" altLang="en-US" dirty="0">
                <a:effectLst/>
              </a:rPr>
              <a:t>表示第 </a:t>
            </a:r>
            <a:r>
              <a:rPr lang="en-US" altLang="zh-CN">
                <a:effectLst/>
              </a:rPr>
              <a:t>p </a:t>
            </a:r>
            <a:r>
              <a:rPr lang="zh-CN" altLang="en-US" dirty="0">
                <a:effectLst/>
              </a:rPr>
              <a:t>个绘图子区域。</a:t>
            </a:r>
            <a:r>
              <a:rPr lang="zh-CN" altLang="en-US" b="0" dirty="0">
                <a:effectLst/>
              </a:rPr>
              <a:t> </a:t>
            </a:r>
            <a:endParaRPr lang="zh-CN" altLang="en-US" b="0" dirty="0">
              <a:effectLst/>
            </a:endParaRPr>
          </a:p>
          <a:p>
            <a:pPr>
              <a:buNone/>
            </a:pPr>
            <a:endParaRPr lang="zh-CN" altLang="en-US" dirty="0">
              <a:effectLst/>
            </a:endParaRPr>
          </a:p>
        </p:txBody>
      </p:sp>
      <p:sp>
        <p:nvSpPr>
          <p:cNvPr id="4098" name="标题 1"/>
          <p:cNvSpPr>
            <a:spLocks noGrp="1"/>
          </p:cNvSpPr>
          <p:nvPr/>
        </p:nvSpPr>
        <p:spPr>
          <a:xfrm>
            <a:off x="5724525" y="274638"/>
            <a:ext cx="2746375" cy="7778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dirty="0">
                <a:solidFill>
                  <a:srgbClr val="FF00FF"/>
                </a:solidFill>
              </a:rPr>
              <a:t>二维图形</a:t>
            </a:r>
            <a:endParaRPr lang="zh-CN" altLang="zh-CN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特殊的二维图形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  <p:graphicFrame>
        <p:nvGraphicFramePr>
          <p:cNvPr id="67771" name="内容占位符 67770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39750" y="1484630"/>
          <a:ext cx="8229600" cy="4500563"/>
        </p:xfrm>
        <a:graphic>
          <a:graphicData uri="http://schemas.openxmlformats.org/drawingml/2006/table">
            <a:tbl>
              <a:tblPr/>
              <a:tblGrid>
                <a:gridCol w="1800225"/>
                <a:gridCol w="1943100"/>
                <a:gridCol w="4486275"/>
              </a:tblGrid>
              <a:tr h="395288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函数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二维图的形状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备注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bar(x,y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条形图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是横坐标，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y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是纵坐标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025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fplot(y,[a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b])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精确绘图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y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代表某个函数，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[a b]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表示需要精确绘图的范围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polar(θ,r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极坐标图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SymbolMT" charset="-128"/>
                        </a:rPr>
                        <a:t>θ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是角度，代表以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SymbolMT" charset="-128"/>
                        </a:rPr>
                        <a:t>θ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为变量的函数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stairs(x,y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阶梯图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是横坐标，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y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是纵坐标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stem(x,y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针状图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是横坐标，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y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是纵坐标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fill(x,y,’b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’)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填充图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是横坐标，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y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是纵坐标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, ‘b’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代表颜色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937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scatter(x,y,s,c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散点图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是圆圈标记点的面积，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是标记点颜色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err="1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pie(x</a:t>
                      </a: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lang="en-US" altLang="zh-CN" sz="200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饼图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lang="zh-CN" altLang="en-US" sz="2000" dirty="0">
                          <a:solidFill>
                            <a:srgbClr val="00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为向量</a:t>
                      </a:r>
                      <a:endParaRPr lang="zh-CN" altLang="en-US" sz="20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文本占位符 77826"/>
          <p:cNvSpPr>
            <a:spLocks noGrp="1"/>
          </p:cNvSpPr>
          <p:nvPr>
            <p:ph type="body" idx="1"/>
          </p:nvPr>
        </p:nvSpPr>
        <p:spPr>
          <a:xfrm>
            <a:off x="468313" y="1626553"/>
            <a:ext cx="8229600" cy="5106987"/>
          </a:xfrm>
        </p:spPr>
        <p:txBody>
          <a:bodyPr/>
          <a:lstStyle/>
          <a:p>
            <a:r>
              <a:rPr lang="zh-CN" altLang="en-US" dirty="0">
                <a:effectLst/>
              </a:rPr>
              <a:t>函数格式：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zh-CN" altLang="en-US" dirty="0">
                <a:effectLst/>
              </a:rPr>
              <a:t>   </a:t>
            </a:r>
            <a:r>
              <a:rPr lang="en-US" altLang="zh-CN">
                <a:effectLst/>
              </a:rPr>
              <a:t>plot3(x1,y1,z1,‘</a:t>
            </a:r>
            <a:r>
              <a:rPr lang="zh-CN" altLang="en-US" b="0" dirty="0">
                <a:effectLst/>
              </a:rPr>
              <a:t>选项</a:t>
            </a:r>
            <a:r>
              <a:rPr lang="en-US" altLang="zh-CN">
                <a:effectLst/>
              </a:rPr>
              <a:t>1’, x2,y2,z2,‘</a:t>
            </a:r>
            <a:r>
              <a:rPr lang="zh-CN" altLang="en-US" b="0" dirty="0">
                <a:effectLst/>
              </a:rPr>
              <a:t>选项</a:t>
            </a:r>
            <a:r>
              <a:rPr lang="en-US" altLang="zh-CN">
                <a:effectLst/>
              </a:rPr>
              <a:t>2', …) </a:t>
            </a:r>
            <a:endParaRPr lang="en-US" altLang="zh-CN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</a:t>
            </a:r>
            <a:r>
              <a:rPr lang="en-US" altLang="zh-CN" err="1">
                <a:effectLst/>
              </a:rPr>
              <a:t>x,y,z</a:t>
            </a:r>
            <a:r>
              <a:rPr lang="zh-CN" altLang="en-US" b="0" dirty="0">
                <a:effectLst/>
              </a:rPr>
              <a:t>是长度相同的向量</a:t>
            </a:r>
            <a:r>
              <a:rPr lang="zh-CN" altLang="en-US" dirty="0">
                <a:effectLst/>
              </a:rPr>
              <a:t>：</a:t>
            </a:r>
            <a:r>
              <a:rPr lang="zh-CN" altLang="en-US" b="0" dirty="0">
                <a:effectLst/>
              </a:rPr>
              <a:t>一条曲线</a:t>
            </a:r>
            <a:endParaRPr lang="zh-CN" altLang="en-US" b="0" dirty="0">
              <a:effectLst/>
            </a:endParaRPr>
          </a:p>
          <a:p>
            <a:pPr>
              <a:buNone/>
            </a:pPr>
            <a:r>
              <a:rPr lang="zh-CN" altLang="en-US" b="0" dirty="0">
                <a:effectLst/>
              </a:rPr>
              <a:t>   </a:t>
            </a:r>
            <a:r>
              <a:rPr lang="en-US" altLang="zh-CN" err="1">
                <a:effectLst/>
              </a:rPr>
              <a:t>x,y,z</a:t>
            </a:r>
            <a:r>
              <a:rPr lang="zh-CN" altLang="en-US" b="0" dirty="0">
                <a:effectLst/>
              </a:rPr>
              <a:t>是维数相同的矩阵</a:t>
            </a:r>
            <a:r>
              <a:rPr lang="zh-CN" altLang="en-US" dirty="0">
                <a:effectLst/>
              </a:rPr>
              <a:t>：</a:t>
            </a:r>
            <a:r>
              <a:rPr lang="zh-CN" altLang="en-US" b="0" dirty="0">
                <a:effectLst/>
              </a:rPr>
              <a:t>多条曲线</a:t>
            </a:r>
            <a:endParaRPr lang="zh-CN" altLang="en-US" b="0" dirty="0">
              <a:effectLst/>
            </a:endParaRPr>
          </a:p>
          <a:p>
            <a:pPr marL="0" indent="0">
              <a:buNone/>
            </a:pPr>
            <a:endParaRPr lang="zh-CN" altLang="en-US" dirty="0">
              <a:effectLst/>
            </a:endParaRPr>
          </a:p>
        </p:txBody>
      </p:sp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三维曲线图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468313" y="1267778"/>
            <a:ext cx="8229600" cy="5106987"/>
          </a:xfrm>
        </p:spPr>
        <p:txBody>
          <a:bodyPr/>
          <a:lstStyle/>
          <a:p>
            <a:r>
              <a:rPr lang="zh-CN" altLang="en-US" sz="2800" dirty="0">
                <a:effectLst/>
              </a:rPr>
              <a:t>三维曲面</a:t>
            </a:r>
            <a:r>
              <a:rPr lang="en-US" altLang="zh-CN" sz="2800">
                <a:effectLst/>
              </a:rPr>
              <a:t>z=</a:t>
            </a:r>
            <a:r>
              <a:rPr lang="en-US" altLang="zh-CN" sz="2800" err="1">
                <a:effectLst/>
              </a:rPr>
              <a:t>f(x,y</a:t>
            </a:r>
            <a:r>
              <a:rPr lang="en-US" altLang="zh-CN" sz="2800">
                <a:effectLst/>
              </a:rPr>
              <a:t>) </a:t>
            </a:r>
            <a:r>
              <a:rPr lang="zh-CN" altLang="en-US" sz="2800" dirty="0">
                <a:effectLst/>
              </a:rPr>
              <a:t>绘制的一般步骤： 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zh-CN" altLang="en-US" sz="2800" dirty="0">
                <a:effectLst/>
              </a:rPr>
              <a:t>  步骤一：确定向量</a:t>
            </a:r>
            <a:r>
              <a:rPr lang="en-US" altLang="zh-CN" sz="2800">
                <a:effectLst/>
              </a:rPr>
              <a:t>x</a:t>
            </a:r>
            <a:r>
              <a:rPr lang="zh-CN" altLang="en-US" sz="2800" dirty="0">
                <a:effectLst/>
              </a:rPr>
              <a:t>，</a:t>
            </a:r>
            <a:r>
              <a:rPr lang="en-US" altLang="zh-CN" sz="2800">
                <a:effectLst/>
              </a:rPr>
              <a:t>y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</a:t>
            </a:r>
            <a:r>
              <a:rPr lang="zh-CN" altLang="en-US" sz="2800" dirty="0">
                <a:effectLst/>
              </a:rPr>
              <a:t>步骤二：使用</a:t>
            </a:r>
            <a:r>
              <a:rPr lang="en-US" altLang="zh-CN" sz="2800" err="1">
                <a:effectLst/>
              </a:rPr>
              <a:t>meshgrid</a:t>
            </a:r>
            <a:r>
              <a:rPr lang="zh-CN" altLang="en-US" sz="2800" dirty="0">
                <a:effectLst/>
              </a:rPr>
              <a:t>生成网格矩阵 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</a:t>
            </a:r>
            <a:r>
              <a:rPr lang="zh-CN" altLang="en-US" sz="2800" dirty="0">
                <a:effectLst/>
              </a:rPr>
              <a:t>步骤三：计算函数</a:t>
            </a:r>
            <a:r>
              <a:rPr lang="en-US" altLang="zh-CN" sz="2800">
                <a:effectLst/>
              </a:rPr>
              <a:t>z=</a:t>
            </a:r>
            <a:r>
              <a:rPr lang="en-US" altLang="zh-CN" sz="2800" err="1">
                <a:effectLst/>
              </a:rPr>
              <a:t>f(x,y</a:t>
            </a:r>
            <a:r>
              <a:rPr lang="en-US" altLang="zh-CN" sz="2800">
                <a:effectLst/>
              </a:rPr>
              <a:t>) </a:t>
            </a:r>
            <a:r>
              <a:rPr lang="zh-CN" altLang="en-US" sz="2800" dirty="0">
                <a:effectLst/>
              </a:rPr>
              <a:t>在各网格点上的值 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</a:t>
            </a:r>
            <a:r>
              <a:rPr lang="zh-CN" altLang="en-US" sz="2800" dirty="0">
                <a:effectLst/>
              </a:rPr>
              <a:t>步骤四：使用</a:t>
            </a:r>
            <a:r>
              <a:rPr lang="en-US" altLang="zh-CN" sz="2800">
                <a:effectLst/>
              </a:rPr>
              <a:t>mesh</a:t>
            </a:r>
            <a:r>
              <a:rPr lang="zh-CN" altLang="en-US" sz="2800" dirty="0">
                <a:effectLst/>
              </a:rPr>
              <a:t>等命令生成三维网格曲面图、使用</a:t>
            </a:r>
            <a:r>
              <a:rPr lang="en-US" altLang="zh-CN" sz="2800">
                <a:effectLst/>
              </a:rPr>
              <a:t>surf</a:t>
            </a:r>
            <a:r>
              <a:rPr lang="zh-CN" altLang="en-US" sz="2800" dirty="0">
                <a:effectLst/>
              </a:rPr>
              <a:t>等命令生成三维表面着色曲面图。 </a:t>
            </a:r>
            <a:endParaRPr lang="zh-CN" altLang="en-US" sz="2800" dirty="0">
              <a:effectLst/>
            </a:endParaRPr>
          </a:p>
          <a:p>
            <a:endParaRPr lang="zh-CN" altLang="en-US" sz="2800" dirty="0">
              <a:effectLst/>
            </a:endParaRPr>
          </a:p>
        </p:txBody>
      </p:sp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三维网格曲面图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文本占位符 79874"/>
          <p:cNvSpPr>
            <a:spLocks noGrp="1"/>
          </p:cNvSpPr>
          <p:nvPr>
            <p:ph type="body" idx="1"/>
          </p:nvPr>
        </p:nvSpPr>
        <p:spPr>
          <a:xfrm>
            <a:off x="468313" y="1196023"/>
            <a:ext cx="8229600" cy="5106987"/>
          </a:xfrm>
        </p:spPr>
        <p:txBody>
          <a:bodyPr/>
          <a:lstStyle/>
          <a:p>
            <a:r>
              <a:rPr lang="zh-CN" altLang="en-US" b="0" dirty="0">
                <a:effectLst/>
              </a:rPr>
              <a:t>网格矩阵生成函数：</a:t>
            </a:r>
            <a:r>
              <a:rPr lang="en-US" altLang="zh-CN" err="1">
                <a:effectLst/>
              </a:rPr>
              <a:t>meshgrid</a:t>
            </a:r>
            <a:r>
              <a:rPr lang="en-US" altLang="zh-CN">
                <a:effectLst/>
              </a:rPr>
              <a:t> </a:t>
            </a:r>
            <a:endParaRPr lang="en-US" altLang="zh-CN" b="0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[X,Y]= </a:t>
            </a:r>
            <a:r>
              <a:rPr lang="en-US" altLang="zh-CN" err="1">
                <a:effectLst/>
              </a:rPr>
              <a:t>meshgrid(x,y</a:t>
            </a:r>
            <a:r>
              <a:rPr lang="en-US" altLang="zh-CN">
                <a:effectLst/>
              </a:rPr>
              <a:t>) </a:t>
            </a:r>
            <a:endParaRPr lang="en-US" altLang="zh-CN">
              <a:effectLst/>
            </a:endParaRPr>
          </a:p>
          <a:p>
            <a:pPr>
              <a:buNone/>
            </a:pPr>
            <a:r>
              <a:rPr lang="en-US" altLang="zh-CN">
                <a:effectLst/>
              </a:rPr>
              <a:t>   x, y </a:t>
            </a:r>
            <a:r>
              <a:rPr lang="zh-CN" altLang="en-US" b="0" dirty="0">
                <a:effectLst/>
              </a:rPr>
              <a:t>为给定的向量，</a:t>
            </a:r>
            <a:r>
              <a:rPr lang="en-US" altLang="zh-CN">
                <a:effectLst/>
              </a:rPr>
              <a:t>X, Y </a:t>
            </a:r>
            <a:r>
              <a:rPr lang="zh-CN" altLang="en-US" b="0" dirty="0">
                <a:effectLst/>
              </a:rPr>
              <a:t>是网格划分后得到的网格矩阵</a:t>
            </a:r>
            <a:r>
              <a:rPr lang="zh-CN" altLang="en-US" dirty="0">
                <a:effectLst/>
              </a:rPr>
              <a:t> </a:t>
            </a:r>
            <a:endParaRPr lang="zh-CN" altLang="en-US" dirty="0">
              <a:effectLst/>
            </a:endParaRPr>
          </a:p>
        </p:txBody>
      </p:sp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三维网格曲面图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文本占位符 80898"/>
          <p:cNvSpPr>
            <a:spLocks noGrp="1"/>
          </p:cNvSpPr>
          <p:nvPr>
            <p:ph type="body" idx="1"/>
          </p:nvPr>
        </p:nvSpPr>
        <p:spPr>
          <a:xfrm>
            <a:off x="468313" y="1052513"/>
            <a:ext cx="8229600" cy="5106987"/>
          </a:xfrm>
        </p:spPr>
        <p:txBody>
          <a:bodyPr/>
          <a:lstStyle/>
          <a:p>
            <a:r>
              <a:rPr lang="en-US" altLang="zh-CN" sz="2800" err="1">
                <a:effectLst/>
              </a:rPr>
              <a:t>mesh(X,Y,Z,C</a:t>
            </a:r>
            <a:r>
              <a:rPr lang="en-US" altLang="zh-CN" sz="2800">
                <a:effectLst/>
              </a:rPr>
              <a:t>)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  X,Y</a:t>
            </a:r>
            <a:r>
              <a:rPr lang="zh-CN" altLang="en-US" sz="2800" dirty="0">
                <a:effectLst/>
              </a:rPr>
              <a:t>：网格坐标矩阵</a:t>
            </a:r>
            <a:r>
              <a:rPr lang="en-US" altLang="zh-CN" sz="2800">
                <a:effectLst/>
              </a:rPr>
              <a:t>,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  Z </a:t>
            </a:r>
            <a:r>
              <a:rPr lang="zh-CN" altLang="en-US" sz="2800" dirty="0">
                <a:effectLst/>
              </a:rPr>
              <a:t>：网格点上的高度矩阵。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zh-CN" altLang="en-US" sz="2800" dirty="0">
                <a:effectLst/>
              </a:rPr>
              <a:t>   矩阵 </a:t>
            </a:r>
            <a:r>
              <a:rPr lang="en-US" altLang="zh-CN" sz="2800">
                <a:effectLst/>
              </a:rPr>
              <a:t>C </a:t>
            </a:r>
            <a:r>
              <a:rPr lang="zh-CN" altLang="en-US" sz="2800" dirty="0">
                <a:effectLst/>
              </a:rPr>
              <a:t>：确定不同高度下的颜色范围，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zh-CN" altLang="en-US" sz="2800" dirty="0">
                <a:effectLst/>
              </a:rPr>
              <a:t>   省略时 </a:t>
            </a:r>
            <a:r>
              <a:rPr lang="en-US" altLang="zh-CN" sz="2800">
                <a:effectLst/>
              </a:rPr>
              <a:t>C=Z</a:t>
            </a:r>
            <a:r>
              <a:rPr lang="zh-CN" altLang="en-US" sz="2800" dirty="0">
                <a:effectLst/>
              </a:rPr>
              <a:t>，即颜色的设定正比于图形的高度</a:t>
            </a:r>
            <a:endParaRPr lang="zh-CN" altLang="en-US" sz="2800" dirty="0">
              <a:effectLst/>
            </a:endParaRPr>
          </a:p>
          <a:p>
            <a:r>
              <a:rPr lang="en-US" altLang="zh-CN" sz="2800" err="1">
                <a:effectLst/>
              </a:rPr>
              <a:t>mesh(Z</a:t>
            </a:r>
            <a:r>
              <a:rPr lang="en-US" altLang="zh-CN" sz="2800">
                <a:effectLst/>
              </a:rPr>
              <a:t>)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en-US" altLang="zh-CN" sz="2800" i="1">
                <a:effectLst/>
              </a:rPr>
              <a:t>    x</a:t>
            </a:r>
            <a:r>
              <a:rPr lang="en-US" altLang="zh-CN" sz="2800">
                <a:effectLst/>
              </a:rPr>
              <a:t>, y </a:t>
            </a:r>
            <a:r>
              <a:rPr lang="zh-CN" altLang="en-US" sz="2800" dirty="0">
                <a:effectLst/>
              </a:rPr>
              <a:t>省略时，</a:t>
            </a:r>
            <a:r>
              <a:rPr lang="en-US" altLang="zh-CN" sz="2800">
                <a:effectLst/>
              </a:rPr>
              <a:t>Z</a:t>
            </a:r>
            <a:r>
              <a:rPr lang="zh-CN" altLang="en-US" sz="2800" dirty="0">
                <a:effectLst/>
              </a:rPr>
              <a:t>矩阵的列下标当做</a:t>
            </a:r>
            <a:r>
              <a:rPr lang="en-US" altLang="zh-CN" sz="2800">
                <a:effectLst/>
              </a:rPr>
              <a:t>x</a:t>
            </a:r>
            <a:r>
              <a:rPr lang="zh-CN" altLang="en-US" sz="2800" dirty="0">
                <a:effectLst/>
              </a:rPr>
              <a:t>轴坐标， </a:t>
            </a:r>
            <a:r>
              <a:rPr lang="en-US" altLang="zh-CN" sz="2800">
                <a:effectLst/>
              </a:rPr>
              <a:t>Z</a:t>
            </a:r>
            <a:r>
              <a:rPr lang="zh-CN" altLang="en-US" sz="2800" dirty="0">
                <a:effectLst/>
              </a:rPr>
              <a:t>矩阵的行下标当做</a:t>
            </a:r>
            <a:r>
              <a:rPr lang="en-US" altLang="zh-CN" sz="2800">
                <a:effectLst/>
              </a:rPr>
              <a:t>y</a:t>
            </a:r>
            <a:r>
              <a:rPr lang="zh-CN" altLang="en-US" sz="2800" dirty="0">
                <a:effectLst/>
              </a:rPr>
              <a:t>轴坐标  </a:t>
            </a:r>
            <a:endParaRPr lang="zh-CN" altLang="en-US" sz="2800" dirty="0">
              <a:effectLst/>
            </a:endParaRPr>
          </a:p>
        </p:txBody>
      </p:sp>
      <p:sp>
        <p:nvSpPr>
          <p:cNvPr id="80900" name="矩形 80899"/>
          <p:cNvSpPr/>
          <p:nvPr/>
        </p:nvSpPr>
        <p:spPr>
          <a:xfrm>
            <a:off x="755650" y="5300028"/>
            <a:ext cx="7848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err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meshc</a:t>
            </a: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    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调用方式与 </a:t>
            </a: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mesh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相同，在 </a:t>
            </a: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mesh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基础上增加等高线 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0901" name="矩形 80900"/>
          <p:cNvSpPr/>
          <p:nvPr/>
        </p:nvSpPr>
        <p:spPr>
          <a:xfrm>
            <a:off x="755650" y="5734050"/>
            <a:ext cx="73453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err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meshz</a:t>
            </a: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    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调用方式与 </a:t>
            </a: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mesh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相同，在 </a:t>
            </a: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mesh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基础上增加底座 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三维网格曲面图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20" name="图片 860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125538"/>
            <a:ext cx="7126288" cy="513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三维网格曲面图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文本占位符 89090"/>
          <p:cNvSpPr>
            <a:spLocks noGrp="1"/>
          </p:cNvSpPr>
          <p:nvPr>
            <p:ph type="body" idx="1"/>
          </p:nvPr>
        </p:nvSpPr>
        <p:spPr>
          <a:xfrm>
            <a:off x="468313" y="1052513"/>
            <a:ext cx="8424862" cy="5106987"/>
          </a:xfrm>
        </p:spPr>
        <p:txBody>
          <a:bodyPr/>
          <a:lstStyle/>
          <a:p>
            <a:r>
              <a:rPr lang="zh-CN" altLang="en-US" sz="2800" dirty="0">
                <a:effectLst/>
              </a:rPr>
              <a:t>函数：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   surf, </a:t>
            </a:r>
            <a:r>
              <a:rPr lang="en-US" altLang="zh-CN" sz="2800" err="1">
                <a:effectLst/>
              </a:rPr>
              <a:t>surfc</a:t>
            </a:r>
            <a:r>
              <a:rPr lang="en-US" altLang="zh-CN" sz="2800">
                <a:effectLst/>
              </a:rPr>
              <a:t>, </a:t>
            </a:r>
            <a:r>
              <a:rPr lang="en-US" altLang="zh-CN" sz="2800" err="1">
                <a:effectLst/>
              </a:rPr>
              <a:t>surfl</a:t>
            </a:r>
            <a:r>
              <a:rPr lang="en-US" altLang="zh-CN" sz="2800">
                <a:effectLst/>
              </a:rPr>
              <a:t>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</a:t>
            </a:r>
            <a:r>
              <a:rPr lang="en-US" altLang="zh-CN" sz="2800" err="1">
                <a:effectLst/>
              </a:rPr>
              <a:t>surf(X,Y,Z,C</a:t>
            </a:r>
            <a:r>
              <a:rPr lang="en-US" altLang="zh-CN" sz="2800">
                <a:effectLst/>
              </a:rPr>
              <a:t>)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zh-CN" altLang="en-US" sz="2800" dirty="0">
                <a:effectLst/>
              </a:rPr>
              <a:t>     绘制由矩阵 </a:t>
            </a:r>
            <a:r>
              <a:rPr lang="en-US" altLang="zh-CN" sz="2800">
                <a:effectLst/>
              </a:rPr>
              <a:t>X,Y,Z </a:t>
            </a:r>
            <a:r>
              <a:rPr lang="zh-CN" altLang="en-US" sz="2800" dirty="0">
                <a:effectLst/>
              </a:rPr>
              <a:t>所确定的着色的三维表面图，参数含义同 </a:t>
            </a:r>
            <a:r>
              <a:rPr lang="en-US" altLang="zh-CN" sz="2800">
                <a:effectLst/>
              </a:rPr>
              <a:t>mesh</a:t>
            </a:r>
            <a:r>
              <a:rPr lang="zh-CN" altLang="en-US" sz="2800" dirty="0">
                <a:effectLst/>
              </a:rPr>
              <a:t>。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</a:t>
            </a:r>
            <a:r>
              <a:rPr lang="en-US" altLang="zh-CN" sz="2800" err="1">
                <a:effectLst/>
              </a:rPr>
              <a:t>surfc</a:t>
            </a:r>
            <a:r>
              <a:rPr lang="en-US" altLang="zh-CN" sz="2800">
                <a:effectLst/>
              </a:rPr>
              <a:t>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zh-CN" altLang="en-US" sz="2800" dirty="0">
                <a:effectLst/>
              </a:rPr>
              <a:t>   调用方式与 </a:t>
            </a:r>
            <a:r>
              <a:rPr lang="en-US" altLang="zh-CN" sz="2800">
                <a:effectLst/>
              </a:rPr>
              <a:t>surf </a:t>
            </a:r>
            <a:r>
              <a:rPr lang="zh-CN" altLang="en-US" sz="2800" dirty="0">
                <a:effectLst/>
              </a:rPr>
              <a:t>相同，在 </a:t>
            </a:r>
            <a:r>
              <a:rPr lang="en-US" altLang="zh-CN" sz="2800">
                <a:effectLst/>
              </a:rPr>
              <a:t>surf </a:t>
            </a:r>
            <a:r>
              <a:rPr lang="zh-CN" altLang="en-US" sz="2800" dirty="0">
                <a:effectLst/>
              </a:rPr>
              <a:t>基础上增加等高线 </a:t>
            </a:r>
            <a:endParaRPr lang="zh-CN" altLang="en-US" sz="2800" dirty="0">
              <a:effectLst/>
            </a:endParaRPr>
          </a:p>
          <a:p>
            <a:pPr>
              <a:buNone/>
            </a:pPr>
            <a:r>
              <a:rPr lang="en-US" altLang="zh-CN" sz="2800">
                <a:effectLst/>
              </a:rPr>
              <a:t>  </a:t>
            </a:r>
            <a:r>
              <a:rPr lang="en-US" altLang="zh-CN" sz="2800" err="1">
                <a:effectLst/>
              </a:rPr>
              <a:t>surfl</a:t>
            </a:r>
            <a:r>
              <a:rPr lang="en-US" altLang="zh-CN" sz="2800">
                <a:effectLst/>
              </a:rPr>
              <a:t> </a:t>
            </a:r>
            <a:endParaRPr lang="en-US" altLang="zh-CN" sz="2800">
              <a:effectLst/>
            </a:endParaRPr>
          </a:p>
          <a:p>
            <a:pPr>
              <a:buNone/>
            </a:pPr>
            <a:r>
              <a:rPr lang="zh-CN" altLang="en-US" sz="2800" dirty="0">
                <a:effectLst/>
              </a:rPr>
              <a:t>   调用方式与 </a:t>
            </a:r>
            <a:r>
              <a:rPr lang="en-US" altLang="zh-CN" sz="2800">
                <a:effectLst/>
              </a:rPr>
              <a:t>surf </a:t>
            </a:r>
            <a:r>
              <a:rPr lang="zh-CN" altLang="en-US" sz="2800" dirty="0">
                <a:effectLst/>
              </a:rPr>
              <a:t>相同，在 </a:t>
            </a:r>
            <a:r>
              <a:rPr lang="en-US" altLang="zh-CN" sz="2800">
                <a:effectLst/>
              </a:rPr>
              <a:t>surf </a:t>
            </a:r>
            <a:r>
              <a:rPr lang="zh-CN" altLang="en-US" sz="2800" dirty="0">
                <a:effectLst/>
              </a:rPr>
              <a:t>基础上增加光照效果</a:t>
            </a:r>
            <a:endParaRPr lang="zh-CN" altLang="en-US" sz="2800" dirty="0">
              <a:effectLst/>
            </a:endParaRPr>
          </a:p>
        </p:txBody>
      </p:sp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204210" y="332740"/>
            <a:ext cx="5856605" cy="6477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00FF"/>
                </a:solidFill>
                <a:effectLst/>
              </a:rPr>
              <a:t>三维着色曲面图</a:t>
            </a:r>
            <a:endParaRPr lang="zh-CN" altLang="en-US" sz="3600" dirty="0">
              <a:solidFill>
                <a:srgbClr val="FF00FF"/>
              </a:solidFill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195695" y="44450"/>
            <a:ext cx="1833245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插  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384300"/>
            <a:ext cx="8229600" cy="139827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研究目的：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在给定基准数据的基础上，如何估计出基准数据之间其它点的函数值。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67360" y="2644775"/>
            <a:ext cx="8229600" cy="302831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主要内容：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、一维插值：拉格朗日插值、临近点插值、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线性插值、三次样条插值、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分段三次插值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、高维插值：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3348038" y="44450"/>
            <a:ext cx="5626100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拉格朗日插值（</a:t>
            </a:r>
            <a:r>
              <a:rPr lang="en-US" altLang="zh-CN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lagrange</a:t>
            </a:r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插值）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384300"/>
            <a:ext cx="8229600" cy="1973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原理：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已知函数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在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+1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个点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处的函数值为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。一般情形下有唯一的多项式函数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)=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满足：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            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)=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=0,1,…,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374650" y="3616325"/>
            <a:ext cx="8229600" cy="19732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问题：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已知函数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在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+1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个点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处的函数值为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。求一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次多项式函数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，使其满足：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         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)=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=0,1,…,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70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3348038" y="44450"/>
            <a:ext cx="5626100" cy="1209675"/>
          </a:xfrm>
          <a:ln/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拉格朗日插值（</a:t>
            </a:r>
            <a:r>
              <a:rPr lang="en-US" altLang="zh-CN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lagrange</a:t>
            </a:r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插值）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384300"/>
            <a:ext cx="8229600" cy="1973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原理：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已知函数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在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+1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个点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处的函数值为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。一般情形下有唯一的多项式函数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)=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满足：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            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)=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=0,1,…,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374650" y="3616325"/>
            <a:ext cx="8229600" cy="19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问题：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已知函数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在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+1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个点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处的函数值为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,…,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。求一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次多项式函数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，使其满足：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         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P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)=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y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  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=0,1,…,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70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524000" y="2162175"/>
          <a:ext cx="30162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13180" imgH="418465" progId="Equation.3">
                  <p:embed/>
                </p:oleObj>
              </mc:Choice>
              <mc:Fallback>
                <p:oleObj name="" r:id="rId1" imgW="1313180" imgH="41846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2162175"/>
                        <a:ext cx="3016250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/>
          <p:nvPr/>
        </p:nvSpPr>
        <p:spPr>
          <a:xfrm>
            <a:off x="457200" y="1628775"/>
            <a:ext cx="81534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解决此问题的拉格朗日插值多项式公式如下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Text Box 6"/>
          <p:cNvSpPr txBox="1"/>
          <p:nvPr/>
        </p:nvSpPr>
        <p:spPr>
          <a:xfrm>
            <a:off x="914400" y="3152775"/>
            <a:ext cx="75438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其中</a:t>
            </a:r>
            <a:r>
              <a:rPr lang="en-US" altLang="zh-CN" sz="2800" i="1" dirty="0">
                <a:latin typeface="Times New Roman" panose="02020603050405020304" pitchFamily="18" charset="0"/>
                <a:ea typeface="隶书" panose="02010509060101010101" pitchFamily="49" charset="-122"/>
              </a:rPr>
              <a:t>L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为</a:t>
            </a:r>
            <a:r>
              <a:rPr lang="en-US" altLang="zh-CN" sz="2800" i="1" dirty="0"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次多项式：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96875" y="3838575"/>
          <a:ext cx="87376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3851910" imgH="427990" progId="Equation.3">
                  <p:embed/>
                </p:oleObj>
              </mc:Choice>
              <mc:Fallback>
                <p:oleObj name="" r:id="rId3" imgW="3851910" imgH="42799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6875" y="3838575"/>
                        <a:ext cx="8737600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/>
          <p:nvPr/>
        </p:nvSpPr>
        <p:spPr>
          <a:xfrm>
            <a:off x="304800" y="4995863"/>
            <a:ext cx="472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称为</a:t>
            </a:r>
            <a:r>
              <a:rPr lang="zh-CN" altLang="en-US" sz="2800" b="1" dirty="0">
                <a:solidFill>
                  <a:srgbClr val="5F03B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拉格朗日插值基函数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矩形 1"/>
          <p:cNvSpPr>
            <a:spLocks noGrp="1"/>
          </p:cNvSpPr>
          <p:nvPr>
            <p:ph idx="1"/>
          </p:nvPr>
        </p:nvSpPr>
        <p:spPr>
          <a:xfrm>
            <a:off x="663575" y="1566863"/>
            <a:ext cx="8229600" cy="4525962"/>
          </a:xfrm>
          <a:ln/>
        </p:spPr>
        <p:txBody>
          <a:bodyPr vert="horz" wrap="square" lIns="91440" tIns="45720" rIns="91440" bIns="45720" anchor="t" anchorCtr="0">
            <a:spAutoFit/>
          </a:bodyPr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function y=lagrange(x0,y0,x)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n=length(x0);m=length(x);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for i=1:m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z=x(i);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s=0.0;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for k=1:n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p=1.0;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for j=1:n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   if j~=k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      p=p*(z-x0(j))/(x0(k)-x0(j));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   end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end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s=p*y0(k)+s;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end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y(i)=s; 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end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171" name="标题 1"/>
          <p:cNvSpPr>
            <a:spLocks noGrp="1"/>
          </p:cNvSpPr>
          <p:nvPr>
            <p:ph type="title"/>
          </p:nvPr>
        </p:nvSpPr>
        <p:spPr>
          <a:xfrm>
            <a:off x="3697288" y="44450"/>
            <a:ext cx="5627687" cy="1209675"/>
          </a:xfrm>
          <a:ln/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拉格朗日函数的</a:t>
            </a:r>
            <a:r>
              <a:rPr lang="en-US" altLang="zh-CN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Matlab</a:t>
            </a:r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实现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5580063" y="44450"/>
            <a:ext cx="2447925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临近点插值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395288" y="1528763"/>
            <a:ext cx="8229600" cy="1395412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原理：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用离插值点最近的已知函数值代替该点的函数值</a:t>
            </a:r>
            <a:endParaRPr lang="zh-CN" altLang="en-US" dirty="0"/>
          </a:p>
        </p:txBody>
      </p:sp>
      <p:grpSp>
        <p:nvGrpSpPr>
          <p:cNvPr id="6" name="Group 12"/>
          <p:cNvGrpSpPr/>
          <p:nvPr/>
        </p:nvGrpSpPr>
        <p:grpSpPr>
          <a:xfrm>
            <a:off x="1835150" y="2852738"/>
            <a:ext cx="5441950" cy="2667000"/>
            <a:chOff x="1344" y="480"/>
            <a:chExt cx="3428" cy="1680"/>
          </a:xfrm>
        </p:grpSpPr>
        <p:grpSp>
          <p:nvGrpSpPr>
            <p:cNvPr id="8204" name="Group 13"/>
            <p:cNvGrpSpPr/>
            <p:nvPr/>
          </p:nvGrpSpPr>
          <p:grpSpPr>
            <a:xfrm>
              <a:off x="1536" y="624"/>
              <a:ext cx="3120" cy="1536"/>
              <a:chOff x="1536" y="864"/>
              <a:chExt cx="3120" cy="1536"/>
            </a:xfrm>
          </p:grpSpPr>
          <p:sp>
            <p:nvSpPr>
              <p:cNvPr id="8208" name="Text Box 14"/>
              <p:cNvSpPr txBox="1"/>
              <p:nvPr/>
            </p:nvSpPr>
            <p:spPr>
              <a:xfrm>
                <a:off x="3984" y="1104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09" name="Text Box 15"/>
              <p:cNvSpPr txBox="1"/>
              <p:nvPr/>
            </p:nvSpPr>
            <p:spPr>
              <a:xfrm>
                <a:off x="2256" y="163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10" name="Text Box 16"/>
              <p:cNvSpPr txBox="1"/>
              <p:nvPr/>
            </p:nvSpPr>
            <p:spPr>
              <a:xfrm>
                <a:off x="1824" y="177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11" name="Text Box 17"/>
              <p:cNvSpPr txBox="1"/>
              <p:nvPr/>
            </p:nvSpPr>
            <p:spPr>
              <a:xfrm>
                <a:off x="3504" y="960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12" name="Text Box 18"/>
              <p:cNvSpPr txBox="1"/>
              <p:nvPr/>
            </p:nvSpPr>
            <p:spPr>
              <a:xfrm>
                <a:off x="3024" y="105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13" name="Text Box 19"/>
              <p:cNvSpPr txBox="1"/>
              <p:nvPr/>
            </p:nvSpPr>
            <p:spPr>
              <a:xfrm>
                <a:off x="2592" y="129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14" name="Line 20"/>
              <p:cNvSpPr/>
              <p:nvPr/>
            </p:nvSpPr>
            <p:spPr>
              <a:xfrm>
                <a:off x="1536" y="2160"/>
                <a:ext cx="31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5" name="Line 21"/>
              <p:cNvSpPr/>
              <p:nvPr/>
            </p:nvSpPr>
            <p:spPr>
              <a:xfrm flipV="1">
                <a:off x="1536" y="864"/>
                <a:ext cx="0" cy="12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16" name="Line 22"/>
              <p:cNvSpPr/>
              <p:nvPr/>
            </p:nvSpPr>
            <p:spPr>
              <a:xfrm>
                <a:off x="3600" y="1104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8217" name="Line 23"/>
              <p:cNvSpPr/>
              <p:nvPr/>
            </p:nvSpPr>
            <p:spPr>
              <a:xfrm>
                <a:off x="2688" y="1440"/>
                <a:ext cx="0" cy="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8218" name="Line 24"/>
              <p:cNvSpPr/>
              <p:nvPr/>
            </p:nvSpPr>
            <p:spPr>
              <a:xfrm>
                <a:off x="3120" y="1200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8219" name="Text Box 25"/>
              <p:cNvSpPr txBox="1"/>
              <p:nvPr/>
            </p:nvSpPr>
            <p:spPr>
              <a:xfrm>
                <a:off x="3024" y="2112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j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20" name="Text Box 26"/>
              <p:cNvSpPr txBox="1"/>
              <p:nvPr/>
            </p:nvSpPr>
            <p:spPr>
              <a:xfrm>
                <a:off x="2544" y="2112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j-1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21" name="Text Box 27"/>
              <p:cNvSpPr txBox="1"/>
              <p:nvPr/>
            </p:nvSpPr>
            <p:spPr>
              <a:xfrm>
                <a:off x="3456" y="2112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j+1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22" name="Line 28"/>
              <p:cNvSpPr/>
              <p:nvPr/>
            </p:nvSpPr>
            <p:spPr>
              <a:xfrm>
                <a:off x="1920" y="192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8223" name="Line 29"/>
              <p:cNvSpPr/>
              <p:nvPr/>
            </p:nvSpPr>
            <p:spPr>
              <a:xfrm>
                <a:off x="4080" y="1248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8224" name="Text Box 30"/>
              <p:cNvSpPr txBox="1"/>
              <p:nvPr/>
            </p:nvSpPr>
            <p:spPr>
              <a:xfrm>
                <a:off x="1824" y="211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25" name="Text Box 31"/>
              <p:cNvSpPr txBox="1"/>
              <p:nvPr/>
            </p:nvSpPr>
            <p:spPr>
              <a:xfrm>
                <a:off x="3984" y="211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n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8205" name="Text Box 32"/>
            <p:cNvSpPr txBox="1"/>
            <p:nvPr/>
          </p:nvSpPr>
          <p:spPr>
            <a:xfrm>
              <a:off x="4560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x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06" name="Text Box 33"/>
            <p:cNvSpPr txBox="1"/>
            <p:nvPr/>
          </p:nvSpPr>
          <p:spPr>
            <a:xfrm>
              <a:off x="1392" y="18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o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07" name="Text Box 34"/>
            <p:cNvSpPr txBox="1"/>
            <p:nvPr/>
          </p:nvSpPr>
          <p:spPr>
            <a:xfrm>
              <a:off x="1344" y="4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197" name="Line 28"/>
          <p:cNvSpPr/>
          <p:nvPr/>
        </p:nvSpPr>
        <p:spPr>
          <a:xfrm>
            <a:off x="3419475" y="472757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cxnSp>
        <p:nvCxnSpPr>
          <p:cNvPr id="8198" name="直接连接符 35"/>
          <p:cNvCxnSpPr/>
          <p:nvPr/>
        </p:nvCxnSpPr>
        <p:spPr>
          <a:xfrm>
            <a:off x="2700338" y="47974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199" name="直接连接符 37"/>
          <p:cNvCxnSpPr/>
          <p:nvPr/>
        </p:nvCxnSpPr>
        <p:spPr>
          <a:xfrm>
            <a:off x="3203575" y="4581525"/>
            <a:ext cx="5048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0" name="直接连接符 38"/>
          <p:cNvCxnSpPr/>
          <p:nvPr/>
        </p:nvCxnSpPr>
        <p:spPr>
          <a:xfrm>
            <a:off x="3708400" y="4005263"/>
            <a:ext cx="5048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1" name="直接连接符 39"/>
          <p:cNvCxnSpPr/>
          <p:nvPr/>
        </p:nvCxnSpPr>
        <p:spPr>
          <a:xfrm>
            <a:off x="4211638" y="3644900"/>
            <a:ext cx="8334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" name="直接连接符 41"/>
          <p:cNvCxnSpPr/>
          <p:nvPr/>
        </p:nvCxnSpPr>
        <p:spPr>
          <a:xfrm>
            <a:off x="5076825" y="3500438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3" name="直接连接符 44"/>
          <p:cNvCxnSpPr/>
          <p:nvPr/>
        </p:nvCxnSpPr>
        <p:spPr>
          <a:xfrm>
            <a:off x="5795963" y="3716338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12"/>
          <p:cNvGrpSpPr/>
          <p:nvPr/>
        </p:nvGrpSpPr>
        <p:grpSpPr>
          <a:xfrm>
            <a:off x="1835150" y="2852738"/>
            <a:ext cx="5441950" cy="2667000"/>
            <a:chOff x="1344" y="480"/>
            <a:chExt cx="3428" cy="1680"/>
          </a:xfrm>
        </p:grpSpPr>
        <p:grpSp>
          <p:nvGrpSpPr>
            <p:cNvPr id="9227" name="Group 13"/>
            <p:cNvGrpSpPr/>
            <p:nvPr/>
          </p:nvGrpSpPr>
          <p:grpSpPr>
            <a:xfrm>
              <a:off x="1536" y="624"/>
              <a:ext cx="3120" cy="1536"/>
              <a:chOff x="1536" y="864"/>
              <a:chExt cx="3120" cy="1536"/>
            </a:xfrm>
          </p:grpSpPr>
          <p:sp>
            <p:nvSpPr>
              <p:cNvPr id="9231" name="Text Box 14"/>
              <p:cNvSpPr txBox="1"/>
              <p:nvPr/>
            </p:nvSpPr>
            <p:spPr>
              <a:xfrm>
                <a:off x="3984" y="1104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32" name="Text Box 15"/>
              <p:cNvSpPr txBox="1"/>
              <p:nvPr/>
            </p:nvSpPr>
            <p:spPr>
              <a:xfrm>
                <a:off x="2256" y="163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33" name="Text Box 16"/>
              <p:cNvSpPr txBox="1"/>
              <p:nvPr/>
            </p:nvSpPr>
            <p:spPr>
              <a:xfrm>
                <a:off x="1824" y="177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34" name="Text Box 17"/>
              <p:cNvSpPr txBox="1"/>
              <p:nvPr/>
            </p:nvSpPr>
            <p:spPr>
              <a:xfrm>
                <a:off x="3504" y="960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35" name="Text Box 18"/>
              <p:cNvSpPr txBox="1"/>
              <p:nvPr/>
            </p:nvSpPr>
            <p:spPr>
              <a:xfrm>
                <a:off x="3024" y="105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36" name="Text Box 19"/>
              <p:cNvSpPr txBox="1"/>
              <p:nvPr/>
            </p:nvSpPr>
            <p:spPr>
              <a:xfrm>
                <a:off x="2592" y="129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37" name="Line 20"/>
              <p:cNvSpPr/>
              <p:nvPr/>
            </p:nvSpPr>
            <p:spPr>
              <a:xfrm>
                <a:off x="1536" y="2160"/>
                <a:ext cx="31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238" name="Line 21"/>
              <p:cNvSpPr/>
              <p:nvPr/>
            </p:nvSpPr>
            <p:spPr>
              <a:xfrm flipV="1">
                <a:off x="1536" y="864"/>
                <a:ext cx="0" cy="12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239" name="Line 22"/>
              <p:cNvSpPr/>
              <p:nvPr/>
            </p:nvSpPr>
            <p:spPr>
              <a:xfrm>
                <a:off x="3600" y="1104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40" name="Line 23"/>
              <p:cNvSpPr/>
              <p:nvPr/>
            </p:nvSpPr>
            <p:spPr>
              <a:xfrm>
                <a:off x="2688" y="1440"/>
                <a:ext cx="0" cy="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41" name="Line 24"/>
              <p:cNvSpPr/>
              <p:nvPr/>
            </p:nvSpPr>
            <p:spPr>
              <a:xfrm>
                <a:off x="3120" y="1200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42" name="Text Box 25"/>
              <p:cNvSpPr txBox="1"/>
              <p:nvPr/>
            </p:nvSpPr>
            <p:spPr>
              <a:xfrm>
                <a:off x="3024" y="2112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j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43" name="Text Box 26"/>
              <p:cNvSpPr txBox="1"/>
              <p:nvPr/>
            </p:nvSpPr>
            <p:spPr>
              <a:xfrm>
                <a:off x="2544" y="2112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j-1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44" name="Text Box 27"/>
              <p:cNvSpPr txBox="1"/>
              <p:nvPr/>
            </p:nvSpPr>
            <p:spPr>
              <a:xfrm>
                <a:off x="3456" y="2112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j+1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45" name="Line 28"/>
              <p:cNvSpPr/>
              <p:nvPr/>
            </p:nvSpPr>
            <p:spPr>
              <a:xfrm>
                <a:off x="1920" y="192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46" name="Line 29"/>
              <p:cNvSpPr/>
              <p:nvPr/>
            </p:nvSpPr>
            <p:spPr>
              <a:xfrm>
                <a:off x="4080" y="1248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47" name="Text Box 30"/>
              <p:cNvSpPr txBox="1"/>
              <p:nvPr/>
            </p:nvSpPr>
            <p:spPr>
              <a:xfrm>
                <a:off x="1824" y="211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9248" name="Text Box 31"/>
              <p:cNvSpPr txBox="1"/>
              <p:nvPr/>
            </p:nvSpPr>
            <p:spPr>
              <a:xfrm>
                <a:off x="3984" y="211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n</a:t>
                </a:r>
                <a:endPara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9228" name="Text Box 32"/>
            <p:cNvSpPr txBox="1"/>
            <p:nvPr/>
          </p:nvSpPr>
          <p:spPr>
            <a:xfrm>
              <a:off x="4560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x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29" name="Text Box 33"/>
            <p:cNvSpPr txBox="1"/>
            <p:nvPr/>
          </p:nvSpPr>
          <p:spPr>
            <a:xfrm>
              <a:off x="1392" y="18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o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30" name="Text Box 34"/>
            <p:cNvSpPr txBox="1"/>
            <p:nvPr/>
          </p:nvSpPr>
          <p:spPr>
            <a:xfrm>
              <a:off x="1344" y="4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219" name="Line 28"/>
          <p:cNvSpPr/>
          <p:nvPr/>
        </p:nvSpPr>
        <p:spPr>
          <a:xfrm>
            <a:off x="3419475" y="472757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8" name="Line 4"/>
          <p:cNvSpPr/>
          <p:nvPr/>
        </p:nvSpPr>
        <p:spPr>
          <a:xfrm flipV="1">
            <a:off x="2722563" y="4572000"/>
            <a:ext cx="6858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Line 5"/>
          <p:cNvSpPr/>
          <p:nvPr/>
        </p:nvSpPr>
        <p:spPr>
          <a:xfrm flipV="1">
            <a:off x="3408363" y="4038600"/>
            <a:ext cx="5334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Line 6"/>
          <p:cNvSpPr/>
          <p:nvPr/>
        </p:nvSpPr>
        <p:spPr>
          <a:xfrm flipV="1">
            <a:off x="3941763" y="3657600"/>
            <a:ext cx="6858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" name="Line 7"/>
          <p:cNvSpPr/>
          <p:nvPr/>
        </p:nvSpPr>
        <p:spPr>
          <a:xfrm flipV="1">
            <a:off x="4643438" y="3495675"/>
            <a:ext cx="762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" name="Line 8"/>
          <p:cNvSpPr/>
          <p:nvPr/>
        </p:nvSpPr>
        <p:spPr>
          <a:xfrm>
            <a:off x="5465763" y="3505200"/>
            <a:ext cx="762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标题 1"/>
          <p:cNvSpPr>
            <a:spLocks noGrp="1"/>
          </p:cNvSpPr>
          <p:nvPr>
            <p:ph type="title"/>
          </p:nvPr>
        </p:nvSpPr>
        <p:spPr>
          <a:xfrm>
            <a:off x="5580063" y="44450"/>
            <a:ext cx="2879725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分段线性插值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226" name="内容占位符 2"/>
          <p:cNvSpPr>
            <a:spLocks noGrp="1"/>
          </p:cNvSpPr>
          <p:nvPr>
            <p:ph idx="1"/>
          </p:nvPr>
        </p:nvSpPr>
        <p:spPr>
          <a:xfrm>
            <a:off x="395288" y="1528763"/>
            <a:ext cx="8229600" cy="1395412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原理：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已知函数点用直线段连接作为插值函数。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5580063" y="44450"/>
            <a:ext cx="2879725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三次样条插值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395288" y="1528763"/>
            <a:ext cx="8229600" cy="1395412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原理：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每两个相邻已知函数点之间用一个三次函数来插值，要求整个函数具有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阶光滑性，即一阶导数以及二阶导数连续。</a:t>
            </a:r>
            <a:endParaRPr lang="zh-CN" altLang="en-US" dirty="0"/>
          </a:p>
        </p:txBody>
      </p:sp>
      <p:grpSp>
        <p:nvGrpSpPr>
          <p:cNvPr id="34" name="Group 3"/>
          <p:cNvGrpSpPr/>
          <p:nvPr/>
        </p:nvGrpSpPr>
        <p:grpSpPr>
          <a:xfrm>
            <a:off x="2057400" y="3429000"/>
            <a:ext cx="5329238" cy="2132013"/>
            <a:chOff x="1308" y="921"/>
            <a:chExt cx="3357" cy="1343"/>
          </a:xfrm>
        </p:grpSpPr>
        <p:sp>
          <p:nvSpPr>
            <p:cNvPr id="10245" name="Text Box 4"/>
            <p:cNvSpPr txBox="1"/>
            <p:nvPr/>
          </p:nvSpPr>
          <p:spPr>
            <a:xfrm>
              <a:off x="1644" y="1477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6" name="Text Box 5"/>
            <p:cNvSpPr txBox="1"/>
            <p:nvPr/>
          </p:nvSpPr>
          <p:spPr>
            <a:xfrm>
              <a:off x="1980" y="1313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7" name="Text Box 6"/>
            <p:cNvSpPr txBox="1"/>
            <p:nvPr/>
          </p:nvSpPr>
          <p:spPr>
            <a:xfrm>
              <a:off x="2316" y="1189"/>
              <a:ext cx="48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8" name="Text Box 7"/>
            <p:cNvSpPr txBox="1"/>
            <p:nvPr/>
          </p:nvSpPr>
          <p:spPr>
            <a:xfrm>
              <a:off x="2700" y="1141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9" name="Text Box 8"/>
            <p:cNvSpPr txBox="1"/>
            <p:nvPr/>
          </p:nvSpPr>
          <p:spPr>
            <a:xfrm>
              <a:off x="3036" y="1285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0" name="Text Box 9"/>
            <p:cNvSpPr txBox="1"/>
            <p:nvPr/>
          </p:nvSpPr>
          <p:spPr>
            <a:xfrm>
              <a:off x="3324" y="1505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1" name="Text Box 10"/>
            <p:cNvSpPr txBox="1"/>
            <p:nvPr/>
          </p:nvSpPr>
          <p:spPr>
            <a:xfrm>
              <a:off x="3660" y="1477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2" name="Text Box 11"/>
            <p:cNvSpPr txBox="1"/>
            <p:nvPr/>
          </p:nvSpPr>
          <p:spPr>
            <a:xfrm>
              <a:off x="3852" y="1189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3" name="Text Box 12"/>
            <p:cNvSpPr txBox="1"/>
            <p:nvPr/>
          </p:nvSpPr>
          <p:spPr>
            <a:xfrm>
              <a:off x="1308" y="1697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4" name="Line 13"/>
            <p:cNvSpPr/>
            <p:nvPr/>
          </p:nvSpPr>
          <p:spPr>
            <a:xfrm>
              <a:off x="1308" y="2011"/>
              <a:ext cx="29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5" name="Line 14"/>
            <p:cNvSpPr/>
            <p:nvPr/>
          </p:nvSpPr>
          <p:spPr>
            <a:xfrm flipV="1">
              <a:off x="1308" y="1003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6" name="Text Box 15"/>
            <p:cNvSpPr txBox="1"/>
            <p:nvPr/>
          </p:nvSpPr>
          <p:spPr>
            <a:xfrm>
              <a:off x="4329" y="1865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x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7" name="Text Box 16"/>
            <p:cNvSpPr txBox="1"/>
            <p:nvPr/>
          </p:nvSpPr>
          <p:spPr>
            <a:xfrm>
              <a:off x="1452" y="921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y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8" name="Freeform 17"/>
            <p:cNvSpPr/>
            <p:nvPr/>
          </p:nvSpPr>
          <p:spPr>
            <a:xfrm>
              <a:off x="1448" y="1217"/>
              <a:ext cx="2544" cy="592"/>
            </a:xfrm>
            <a:custGeom>
              <a:avLst/>
              <a:gdLst>
                <a:gd name="txL" fmla="*/ 0 w 2544"/>
                <a:gd name="txT" fmla="*/ 0 h 592"/>
                <a:gd name="txR" fmla="*/ 2544 w 2544"/>
                <a:gd name="txB" fmla="*/ 592 h 592"/>
              </a:gdLst>
              <a:ahLst/>
              <a:cxnLst>
                <a:cxn ang="0">
                  <a:pos x="0" y="592"/>
                </a:cxn>
                <a:cxn ang="0">
                  <a:pos x="336" y="352"/>
                </a:cxn>
                <a:cxn ang="0">
                  <a:pos x="720" y="160"/>
                </a:cxn>
                <a:cxn ang="0">
                  <a:pos x="1008" y="64"/>
                </a:cxn>
                <a:cxn ang="0">
                  <a:pos x="1392" y="16"/>
                </a:cxn>
                <a:cxn ang="0">
                  <a:pos x="1728" y="160"/>
                </a:cxn>
                <a:cxn ang="0">
                  <a:pos x="2016" y="400"/>
                </a:cxn>
                <a:cxn ang="0">
                  <a:pos x="2352" y="352"/>
                </a:cxn>
                <a:cxn ang="0">
                  <a:pos x="2544" y="64"/>
                </a:cxn>
              </a:cxnLst>
              <a:rect l="txL" t="txT" r="txR" b="txB"/>
              <a:pathLst>
                <a:path w="2544" h="592">
                  <a:moveTo>
                    <a:pt x="0" y="592"/>
                  </a:moveTo>
                  <a:cubicBezTo>
                    <a:pt x="108" y="508"/>
                    <a:pt x="216" y="424"/>
                    <a:pt x="336" y="352"/>
                  </a:cubicBezTo>
                  <a:cubicBezTo>
                    <a:pt x="456" y="280"/>
                    <a:pt x="608" y="208"/>
                    <a:pt x="720" y="160"/>
                  </a:cubicBezTo>
                  <a:cubicBezTo>
                    <a:pt x="832" y="112"/>
                    <a:pt x="896" y="88"/>
                    <a:pt x="1008" y="64"/>
                  </a:cubicBezTo>
                  <a:cubicBezTo>
                    <a:pt x="1120" y="40"/>
                    <a:pt x="1272" y="0"/>
                    <a:pt x="1392" y="16"/>
                  </a:cubicBezTo>
                  <a:cubicBezTo>
                    <a:pt x="1512" y="32"/>
                    <a:pt x="1624" y="96"/>
                    <a:pt x="1728" y="160"/>
                  </a:cubicBezTo>
                  <a:cubicBezTo>
                    <a:pt x="1832" y="224"/>
                    <a:pt x="1912" y="368"/>
                    <a:pt x="2016" y="400"/>
                  </a:cubicBezTo>
                  <a:cubicBezTo>
                    <a:pt x="2120" y="432"/>
                    <a:pt x="2264" y="408"/>
                    <a:pt x="2352" y="352"/>
                  </a:cubicBezTo>
                  <a:cubicBezTo>
                    <a:pt x="2440" y="296"/>
                    <a:pt x="2512" y="112"/>
                    <a:pt x="2544" y="6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9" name="Line 18"/>
            <p:cNvSpPr/>
            <p:nvPr/>
          </p:nvSpPr>
          <p:spPr>
            <a:xfrm>
              <a:off x="1450" y="1823"/>
              <a:ext cx="0" cy="234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260" name="Line 19"/>
            <p:cNvSpPr/>
            <p:nvPr/>
          </p:nvSpPr>
          <p:spPr>
            <a:xfrm>
              <a:off x="1763" y="1624"/>
              <a:ext cx="0" cy="367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261" name="Line 20"/>
            <p:cNvSpPr/>
            <p:nvPr/>
          </p:nvSpPr>
          <p:spPr>
            <a:xfrm>
              <a:off x="2106" y="1502"/>
              <a:ext cx="0" cy="50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262" name="Text Box 21"/>
            <p:cNvSpPr txBox="1"/>
            <p:nvPr/>
          </p:nvSpPr>
          <p:spPr>
            <a:xfrm>
              <a:off x="2332" y="1964"/>
              <a:ext cx="8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i-1</a:t>
              </a:r>
              <a:r>
                <a:rPr lang="en-US" altLang="zh-CN" sz="24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    x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i</a:t>
              </a:r>
              <a:endPara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63" name="Text Box 22"/>
            <p:cNvSpPr txBox="1"/>
            <p:nvPr/>
          </p:nvSpPr>
          <p:spPr>
            <a:xfrm>
              <a:off x="1350" y="1963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64" name="Text Box 23"/>
            <p:cNvSpPr txBox="1"/>
            <p:nvPr/>
          </p:nvSpPr>
          <p:spPr>
            <a:xfrm>
              <a:off x="3898" y="197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65" name="Line 24"/>
            <p:cNvSpPr/>
            <p:nvPr/>
          </p:nvSpPr>
          <p:spPr>
            <a:xfrm>
              <a:off x="2822" y="1258"/>
              <a:ext cx="0" cy="733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266" name="Line 25"/>
            <p:cNvSpPr/>
            <p:nvPr/>
          </p:nvSpPr>
          <p:spPr>
            <a:xfrm>
              <a:off x="3156" y="1413"/>
              <a:ext cx="0" cy="60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267" name="Line 26"/>
            <p:cNvSpPr/>
            <p:nvPr/>
          </p:nvSpPr>
          <p:spPr>
            <a:xfrm>
              <a:off x="3434" y="1624"/>
              <a:ext cx="0" cy="378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268" name="Line 27"/>
            <p:cNvSpPr/>
            <p:nvPr/>
          </p:nvSpPr>
          <p:spPr>
            <a:xfrm>
              <a:off x="3789" y="1591"/>
              <a:ext cx="0" cy="41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269" name="Line 28"/>
            <p:cNvSpPr/>
            <p:nvPr/>
          </p:nvSpPr>
          <p:spPr>
            <a:xfrm>
              <a:off x="3978" y="1313"/>
              <a:ext cx="0" cy="71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270" name="Line 29"/>
            <p:cNvSpPr/>
            <p:nvPr/>
          </p:nvSpPr>
          <p:spPr>
            <a:xfrm>
              <a:off x="2445" y="1325"/>
              <a:ext cx="0" cy="68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5187950" y="44450"/>
            <a:ext cx="3271838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三次多项式插值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395288" y="1528763"/>
            <a:ext cx="8229600" cy="1395412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原理：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每两个相邻已知函数点之间用一个三次函数来插值，保证一阶光滑性的同时对极小点保持逼近。</a:t>
            </a:r>
            <a:endParaRPr lang="zh-CN" altLang="en-US" dirty="0"/>
          </a:p>
        </p:txBody>
      </p:sp>
      <p:grpSp>
        <p:nvGrpSpPr>
          <p:cNvPr id="34" name="Group 3"/>
          <p:cNvGrpSpPr/>
          <p:nvPr/>
        </p:nvGrpSpPr>
        <p:grpSpPr>
          <a:xfrm>
            <a:off x="2057400" y="3429000"/>
            <a:ext cx="5329238" cy="2132013"/>
            <a:chOff x="1308" y="921"/>
            <a:chExt cx="3357" cy="1343"/>
          </a:xfrm>
        </p:grpSpPr>
        <p:sp>
          <p:nvSpPr>
            <p:cNvPr id="11269" name="Text Box 4"/>
            <p:cNvSpPr txBox="1"/>
            <p:nvPr/>
          </p:nvSpPr>
          <p:spPr>
            <a:xfrm>
              <a:off x="1644" y="1477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0" name="Text Box 5"/>
            <p:cNvSpPr txBox="1"/>
            <p:nvPr/>
          </p:nvSpPr>
          <p:spPr>
            <a:xfrm>
              <a:off x="1980" y="1313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1" name="Text Box 6"/>
            <p:cNvSpPr txBox="1"/>
            <p:nvPr/>
          </p:nvSpPr>
          <p:spPr>
            <a:xfrm>
              <a:off x="2316" y="1189"/>
              <a:ext cx="48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2" name="Text Box 7"/>
            <p:cNvSpPr txBox="1"/>
            <p:nvPr/>
          </p:nvSpPr>
          <p:spPr>
            <a:xfrm>
              <a:off x="2700" y="1141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3" name="Text Box 8"/>
            <p:cNvSpPr txBox="1"/>
            <p:nvPr/>
          </p:nvSpPr>
          <p:spPr>
            <a:xfrm>
              <a:off x="3036" y="1285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4" name="Text Box 9"/>
            <p:cNvSpPr txBox="1"/>
            <p:nvPr/>
          </p:nvSpPr>
          <p:spPr>
            <a:xfrm>
              <a:off x="3324" y="1505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5" name="Text Box 10"/>
            <p:cNvSpPr txBox="1"/>
            <p:nvPr/>
          </p:nvSpPr>
          <p:spPr>
            <a:xfrm>
              <a:off x="3660" y="1477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6" name="Text Box 11"/>
            <p:cNvSpPr txBox="1"/>
            <p:nvPr/>
          </p:nvSpPr>
          <p:spPr>
            <a:xfrm>
              <a:off x="3852" y="1189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7" name="Text Box 12"/>
            <p:cNvSpPr txBox="1"/>
            <p:nvPr/>
          </p:nvSpPr>
          <p:spPr>
            <a:xfrm>
              <a:off x="1308" y="1697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隶书" panose="02010509060101010101" pitchFamily="49" charset="-122"/>
                  <a:sym typeface="Webdings" panose="05030102010509060703" pitchFamily="18" charset="2"/>
                </a:rPr>
                <a:t></a:t>
              </a:r>
              <a:endPara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78" name="Line 13"/>
            <p:cNvSpPr/>
            <p:nvPr/>
          </p:nvSpPr>
          <p:spPr>
            <a:xfrm>
              <a:off x="1308" y="2011"/>
              <a:ext cx="29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79" name="Line 14"/>
            <p:cNvSpPr/>
            <p:nvPr/>
          </p:nvSpPr>
          <p:spPr>
            <a:xfrm flipV="1">
              <a:off x="1308" y="1003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0" name="Text Box 15"/>
            <p:cNvSpPr txBox="1"/>
            <p:nvPr/>
          </p:nvSpPr>
          <p:spPr>
            <a:xfrm>
              <a:off x="4329" y="1865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x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81" name="Text Box 16"/>
            <p:cNvSpPr txBox="1"/>
            <p:nvPr/>
          </p:nvSpPr>
          <p:spPr>
            <a:xfrm>
              <a:off x="1452" y="921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y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82" name="Freeform 17"/>
            <p:cNvSpPr/>
            <p:nvPr/>
          </p:nvSpPr>
          <p:spPr>
            <a:xfrm>
              <a:off x="1448" y="1217"/>
              <a:ext cx="2544" cy="592"/>
            </a:xfrm>
            <a:custGeom>
              <a:avLst/>
              <a:gdLst>
                <a:gd name="txL" fmla="*/ 0 w 2544"/>
                <a:gd name="txT" fmla="*/ 0 h 592"/>
                <a:gd name="txR" fmla="*/ 2544 w 2544"/>
                <a:gd name="txB" fmla="*/ 592 h 592"/>
              </a:gdLst>
              <a:ahLst/>
              <a:cxnLst>
                <a:cxn ang="0">
                  <a:pos x="0" y="592"/>
                </a:cxn>
                <a:cxn ang="0">
                  <a:pos x="336" y="352"/>
                </a:cxn>
                <a:cxn ang="0">
                  <a:pos x="720" y="160"/>
                </a:cxn>
                <a:cxn ang="0">
                  <a:pos x="1008" y="64"/>
                </a:cxn>
                <a:cxn ang="0">
                  <a:pos x="1392" y="16"/>
                </a:cxn>
                <a:cxn ang="0">
                  <a:pos x="1728" y="160"/>
                </a:cxn>
                <a:cxn ang="0">
                  <a:pos x="2016" y="400"/>
                </a:cxn>
                <a:cxn ang="0">
                  <a:pos x="2352" y="352"/>
                </a:cxn>
                <a:cxn ang="0">
                  <a:pos x="2544" y="64"/>
                </a:cxn>
              </a:cxnLst>
              <a:rect l="txL" t="txT" r="txR" b="txB"/>
              <a:pathLst>
                <a:path w="2544" h="592">
                  <a:moveTo>
                    <a:pt x="0" y="592"/>
                  </a:moveTo>
                  <a:cubicBezTo>
                    <a:pt x="108" y="508"/>
                    <a:pt x="216" y="424"/>
                    <a:pt x="336" y="352"/>
                  </a:cubicBezTo>
                  <a:cubicBezTo>
                    <a:pt x="456" y="280"/>
                    <a:pt x="608" y="208"/>
                    <a:pt x="720" y="160"/>
                  </a:cubicBezTo>
                  <a:cubicBezTo>
                    <a:pt x="832" y="112"/>
                    <a:pt x="896" y="88"/>
                    <a:pt x="1008" y="64"/>
                  </a:cubicBezTo>
                  <a:cubicBezTo>
                    <a:pt x="1120" y="40"/>
                    <a:pt x="1272" y="0"/>
                    <a:pt x="1392" y="16"/>
                  </a:cubicBezTo>
                  <a:cubicBezTo>
                    <a:pt x="1512" y="32"/>
                    <a:pt x="1624" y="96"/>
                    <a:pt x="1728" y="160"/>
                  </a:cubicBezTo>
                  <a:cubicBezTo>
                    <a:pt x="1832" y="224"/>
                    <a:pt x="1912" y="368"/>
                    <a:pt x="2016" y="400"/>
                  </a:cubicBezTo>
                  <a:cubicBezTo>
                    <a:pt x="2120" y="432"/>
                    <a:pt x="2264" y="408"/>
                    <a:pt x="2352" y="352"/>
                  </a:cubicBezTo>
                  <a:cubicBezTo>
                    <a:pt x="2440" y="296"/>
                    <a:pt x="2512" y="112"/>
                    <a:pt x="2544" y="6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83" name="Line 18"/>
            <p:cNvSpPr/>
            <p:nvPr/>
          </p:nvSpPr>
          <p:spPr>
            <a:xfrm>
              <a:off x="1450" y="1823"/>
              <a:ext cx="0" cy="234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284" name="Line 19"/>
            <p:cNvSpPr/>
            <p:nvPr/>
          </p:nvSpPr>
          <p:spPr>
            <a:xfrm>
              <a:off x="1763" y="1624"/>
              <a:ext cx="0" cy="367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285" name="Line 20"/>
            <p:cNvSpPr/>
            <p:nvPr/>
          </p:nvSpPr>
          <p:spPr>
            <a:xfrm>
              <a:off x="2106" y="1502"/>
              <a:ext cx="0" cy="50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286" name="Text Box 21"/>
            <p:cNvSpPr txBox="1"/>
            <p:nvPr/>
          </p:nvSpPr>
          <p:spPr>
            <a:xfrm>
              <a:off x="2332" y="1964"/>
              <a:ext cx="8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i-1</a:t>
              </a:r>
              <a:r>
                <a:rPr lang="en-US" altLang="zh-CN" sz="24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    x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i</a:t>
              </a:r>
              <a:endPara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87" name="Text Box 22"/>
            <p:cNvSpPr txBox="1"/>
            <p:nvPr/>
          </p:nvSpPr>
          <p:spPr>
            <a:xfrm>
              <a:off x="1350" y="1963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88" name="Text Box 23"/>
            <p:cNvSpPr txBox="1"/>
            <p:nvPr/>
          </p:nvSpPr>
          <p:spPr>
            <a:xfrm>
              <a:off x="3898" y="197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1289" name="Line 24"/>
            <p:cNvSpPr/>
            <p:nvPr/>
          </p:nvSpPr>
          <p:spPr>
            <a:xfrm>
              <a:off x="2822" y="1258"/>
              <a:ext cx="0" cy="733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1290" name="Line 25"/>
            <p:cNvSpPr/>
            <p:nvPr/>
          </p:nvSpPr>
          <p:spPr>
            <a:xfrm>
              <a:off x="3156" y="1413"/>
              <a:ext cx="0" cy="60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1291" name="Line 26"/>
            <p:cNvSpPr/>
            <p:nvPr/>
          </p:nvSpPr>
          <p:spPr>
            <a:xfrm>
              <a:off x="3434" y="1624"/>
              <a:ext cx="0" cy="378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1292" name="Line 27"/>
            <p:cNvSpPr/>
            <p:nvPr/>
          </p:nvSpPr>
          <p:spPr>
            <a:xfrm>
              <a:off x="3789" y="1591"/>
              <a:ext cx="0" cy="41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1293" name="Line 28"/>
            <p:cNvSpPr/>
            <p:nvPr/>
          </p:nvSpPr>
          <p:spPr>
            <a:xfrm>
              <a:off x="3978" y="1313"/>
              <a:ext cx="0" cy="71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1294" name="Line 29"/>
            <p:cNvSpPr/>
            <p:nvPr/>
          </p:nvSpPr>
          <p:spPr>
            <a:xfrm>
              <a:off x="2445" y="1325"/>
              <a:ext cx="0" cy="68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6"/>
          <p:cNvSpPr txBox="1"/>
          <p:nvPr/>
        </p:nvSpPr>
        <p:spPr>
          <a:xfrm>
            <a:off x="1371600" y="981075"/>
            <a:ext cx="67056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魏碑" pitchFamily="49" charset="-122"/>
              </a:rPr>
              <a:t>yi=interp1(x</a:t>
            </a:r>
            <a:r>
              <a:rPr lang="zh-CN" altLang="en-US" b="1" dirty="0">
                <a:latin typeface="Times New Roman" panose="02020603050405020304" pitchFamily="18" charset="0"/>
                <a:ea typeface="魏碑" pitchFamily="49" charset="-12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魏碑" pitchFamily="49" charset="-122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  <a:ea typeface="魏碑" pitchFamily="49" charset="-12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魏碑" pitchFamily="49" charset="-122"/>
              </a:rPr>
              <a:t>xi</a:t>
            </a:r>
            <a:r>
              <a:rPr lang="zh-CN" altLang="en-US" b="1" dirty="0">
                <a:latin typeface="Times New Roman" panose="02020603050405020304" pitchFamily="18" charset="0"/>
                <a:ea typeface="魏碑" pitchFamily="49" charset="-12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魏碑" pitchFamily="49" charset="-122"/>
              </a:rPr>
              <a:t>'method')</a:t>
            </a:r>
            <a:endParaRPr lang="en-US" altLang="zh-CN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5" name="Group 7"/>
          <p:cNvGrpSpPr/>
          <p:nvPr/>
        </p:nvGrpSpPr>
        <p:grpSpPr>
          <a:xfrm>
            <a:off x="5486400" y="1560513"/>
            <a:ext cx="2971800" cy="1141412"/>
            <a:chOff x="3456" y="1248"/>
            <a:chExt cx="1872" cy="719"/>
          </a:xfrm>
        </p:grpSpPr>
        <p:sp>
          <p:nvSpPr>
            <p:cNvPr id="12307" name="Text Box 8"/>
            <p:cNvSpPr txBox="1"/>
            <p:nvPr/>
          </p:nvSpPr>
          <p:spPr>
            <a:xfrm>
              <a:off x="4224" y="1632"/>
              <a:ext cx="1104" cy="335"/>
            </a:xfrm>
            <a:prstGeom prst="rect">
              <a:avLst/>
            </a:prstGeom>
            <a:solidFill>
              <a:srgbClr val="FFFF99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魏碑" pitchFamily="49" charset="-122"/>
                  <a:ea typeface="魏碑" pitchFamily="49" charset="-122"/>
                </a:rPr>
                <a:t>插值方法</a:t>
              </a:r>
              <a:endParaRPr lang="zh-CN" altLang="en-US" sz="2400" b="1" dirty="0">
                <a:latin typeface="魏碑" pitchFamily="49" charset="-122"/>
                <a:ea typeface="魏碑" pitchFamily="49" charset="-122"/>
              </a:endParaRPr>
            </a:p>
          </p:txBody>
        </p:sp>
        <p:sp>
          <p:nvSpPr>
            <p:cNvPr id="12308" name="Line 9"/>
            <p:cNvSpPr/>
            <p:nvPr/>
          </p:nvSpPr>
          <p:spPr>
            <a:xfrm>
              <a:off x="3456" y="1248"/>
              <a:ext cx="76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9" name="Line 10"/>
            <p:cNvSpPr/>
            <p:nvPr/>
          </p:nvSpPr>
          <p:spPr>
            <a:xfrm>
              <a:off x="3840" y="1248"/>
              <a:ext cx="1008" cy="38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9" name="Group 11"/>
          <p:cNvGrpSpPr/>
          <p:nvPr/>
        </p:nvGrpSpPr>
        <p:grpSpPr>
          <a:xfrm>
            <a:off x="4343400" y="1560513"/>
            <a:ext cx="1828800" cy="1143000"/>
            <a:chOff x="2736" y="1248"/>
            <a:chExt cx="1152" cy="720"/>
          </a:xfrm>
        </p:grpSpPr>
        <p:sp>
          <p:nvSpPr>
            <p:cNvPr id="12304" name="Line 12"/>
            <p:cNvSpPr/>
            <p:nvPr/>
          </p:nvSpPr>
          <p:spPr>
            <a:xfrm>
              <a:off x="2928" y="1248"/>
              <a:ext cx="19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5" name="Text Box 13"/>
            <p:cNvSpPr txBox="1"/>
            <p:nvPr/>
          </p:nvSpPr>
          <p:spPr>
            <a:xfrm>
              <a:off x="2736" y="1633"/>
              <a:ext cx="1152" cy="335"/>
            </a:xfrm>
            <a:prstGeom prst="rect">
              <a:avLst/>
            </a:prstGeom>
            <a:solidFill>
              <a:srgbClr val="FFFF99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魏碑" pitchFamily="49" charset="-122"/>
                  <a:ea typeface="魏碑" pitchFamily="49" charset="-122"/>
                </a:rPr>
                <a:t>被插值点</a:t>
              </a:r>
              <a:endParaRPr lang="zh-CN" altLang="en-US" sz="2800" b="1" dirty="0">
                <a:latin typeface="魏碑" pitchFamily="49" charset="-122"/>
                <a:ea typeface="魏碑" pitchFamily="49" charset="-122"/>
              </a:endParaRPr>
            </a:p>
          </p:txBody>
        </p:sp>
        <p:sp>
          <p:nvSpPr>
            <p:cNvPr id="12306" name="Line 14"/>
            <p:cNvSpPr/>
            <p:nvPr/>
          </p:nvSpPr>
          <p:spPr>
            <a:xfrm>
              <a:off x="3024" y="1248"/>
              <a:ext cx="336" cy="38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3" name="Group 15"/>
          <p:cNvGrpSpPr/>
          <p:nvPr/>
        </p:nvGrpSpPr>
        <p:grpSpPr>
          <a:xfrm>
            <a:off x="2133600" y="1560513"/>
            <a:ext cx="1981200" cy="1141412"/>
            <a:chOff x="1344" y="1248"/>
            <a:chExt cx="1248" cy="719"/>
          </a:xfrm>
        </p:grpSpPr>
        <p:sp>
          <p:nvSpPr>
            <p:cNvPr id="12301" name="Line 16"/>
            <p:cNvSpPr/>
            <p:nvPr/>
          </p:nvSpPr>
          <p:spPr>
            <a:xfrm>
              <a:off x="2160" y="1248"/>
              <a:ext cx="4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2" name="Text Box 17"/>
            <p:cNvSpPr txBox="1"/>
            <p:nvPr/>
          </p:nvSpPr>
          <p:spPr>
            <a:xfrm>
              <a:off x="1344" y="1632"/>
              <a:ext cx="1104" cy="335"/>
            </a:xfrm>
            <a:prstGeom prst="rect">
              <a:avLst/>
            </a:prstGeom>
            <a:solidFill>
              <a:srgbClr val="FFFF99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插值节点</a:t>
              </a:r>
              <a:endParaRPr lang="zh-CN" altLang="en-US" sz="24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2303" name="Line 18"/>
            <p:cNvSpPr/>
            <p:nvPr/>
          </p:nvSpPr>
          <p:spPr>
            <a:xfrm flipV="1">
              <a:off x="1872" y="1248"/>
              <a:ext cx="528" cy="38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7" name="Group 19"/>
          <p:cNvGrpSpPr/>
          <p:nvPr/>
        </p:nvGrpSpPr>
        <p:grpSpPr>
          <a:xfrm>
            <a:off x="228600" y="1560513"/>
            <a:ext cx="1676400" cy="1492250"/>
            <a:chOff x="144" y="1248"/>
            <a:chExt cx="1056" cy="940"/>
          </a:xfrm>
        </p:grpSpPr>
        <p:sp>
          <p:nvSpPr>
            <p:cNvPr id="12298" name="Line 20"/>
            <p:cNvSpPr/>
            <p:nvPr/>
          </p:nvSpPr>
          <p:spPr>
            <a:xfrm>
              <a:off x="864" y="1248"/>
              <a:ext cx="288" cy="0"/>
            </a:xfrm>
            <a:prstGeom prst="line">
              <a:avLst/>
            </a:prstGeom>
            <a:ln w="12700" cap="sq" cmpd="sng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299" name="Text Box 21"/>
            <p:cNvSpPr txBox="1"/>
            <p:nvPr/>
          </p:nvSpPr>
          <p:spPr>
            <a:xfrm>
              <a:off x="144" y="1584"/>
              <a:ext cx="1056" cy="604"/>
            </a:xfrm>
            <a:prstGeom prst="rect">
              <a:avLst/>
            </a:prstGeom>
            <a:solidFill>
              <a:srgbClr val="FFFF99"/>
            </a:solidFill>
            <a:ln w="12700" cap="sq" cmpd="sng">
              <a:solidFill>
                <a:srgbClr val="FFCC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 dirty="0">
                  <a:latin typeface="魏碑" pitchFamily="49" charset="-122"/>
                  <a:ea typeface="魏碑" pitchFamily="49" charset="-122"/>
                </a:rPr>
                <a:t>xi</a:t>
              </a:r>
              <a:r>
                <a:rPr lang="zh-CN" altLang="en-US" sz="2800" b="1" dirty="0">
                  <a:latin typeface="魏碑" pitchFamily="49" charset="-122"/>
                  <a:ea typeface="魏碑" pitchFamily="49" charset="-122"/>
                </a:rPr>
                <a:t>处的插值结果</a:t>
              </a:r>
              <a:endParaRPr lang="zh-CN" altLang="en-US" sz="2800" b="1" dirty="0">
                <a:latin typeface="魏碑" pitchFamily="49" charset="-122"/>
                <a:ea typeface="魏碑" pitchFamily="49" charset="-122"/>
              </a:endParaRPr>
            </a:p>
          </p:txBody>
        </p:sp>
        <p:sp>
          <p:nvSpPr>
            <p:cNvPr id="12300" name="Line 22"/>
            <p:cNvSpPr/>
            <p:nvPr/>
          </p:nvSpPr>
          <p:spPr>
            <a:xfrm flipV="1">
              <a:off x="624" y="1248"/>
              <a:ext cx="384" cy="336"/>
            </a:xfrm>
            <a:prstGeom prst="line">
              <a:avLst/>
            </a:prstGeom>
            <a:ln w="12700" cap="sq" cmpd="sng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1" name="Text Box 23"/>
          <p:cNvSpPr txBox="1"/>
          <p:nvPr/>
        </p:nvSpPr>
        <p:spPr>
          <a:xfrm>
            <a:off x="3846513" y="2930525"/>
            <a:ext cx="4611687" cy="2376488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魏碑" pitchFamily="49" charset="-122"/>
              </a:rPr>
              <a:t>‘nearest’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 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：最邻近插值</a:t>
            </a:r>
            <a:r>
              <a:rPr lang="zh-CN" altLang="en-US" sz="2800" b="1" dirty="0">
                <a:latin typeface="Times New Roman" panose="02020603050405020304" pitchFamily="18" charset="0"/>
                <a:ea typeface="魏碑" pitchFamily="49" charset="-122"/>
              </a:rPr>
              <a:t>‘</a:t>
            </a:r>
            <a:r>
              <a:rPr lang="en-US" altLang="zh-CN" sz="2800" b="1" dirty="0">
                <a:latin typeface="Times New Roman" panose="02020603050405020304" pitchFamily="18" charset="0"/>
                <a:ea typeface="魏碑" pitchFamily="49" charset="-122"/>
              </a:rPr>
              <a:t>linear’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 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：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魏碑" pitchFamily="49" charset="-122"/>
              </a:rPr>
              <a:t>线性插值；</a:t>
            </a:r>
            <a:endParaRPr lang="zh-CN" altLang="en-US" sz="2800" b="1" dirty="0">
              <a:latin typeface="Times New Roman" panose="02020603050405020304" pitchFamily="18" charset="0"/>
              <a:ea typeface="魏碑" pitchFamily="49" charset="-122"/>
            </a:endParaRPr>
          </a:p>
          <a:p>
            <a:pPr marL="0" lvl="0" indent="0" eaLnBrk="1" hangingPunct="1">
              <a:spcBef>
                <a:spcPct val="1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魏碑" pitchFamily="49" charset="-122"/>
              </a:rPr>
              <a:t>‘</a:t>
            </a:r>
            <a:r>
              <a:rPr lang="en-US" altLang="zh-CN" sz="2800" b="1" dirty="0">
                <a:latin typeface="Times New Roman" panose="02020603050405020304" pitchFamily="18" charset="0"/>
                <a:ea typeface="魏碑" pitchFamily="49" charset="-122"/>
              </a:rPr>
              <a:t>spline’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 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： 三次样条插值；</a:t>
            </a:r>
            <a:endParaRPr lang="zh-CN" altLang="en-US" sz="2800" b="1" dirty="0">
              <a:latin typeface="魏碑" pitchFamily="49" charset="-122"/>
              <a:ea typeface="魏碑" pitchFamily="49" charset="-122"/>
            </a:endParaRPr>
          </a:p>
          <a:p>
            <a:pPr marL="0" lvl="0" indent="0" eaLnBrk="1" hangingPunct="1">
              <a:spcBef>
                <a:spcPct val="1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魏碑" pitchFamily="49" charset="-122"/>
              </a:rPr>
              <a:t>‘</a:t>
            </a:r>
            <a:r>
              <a:rPr lang="en-US" altLang="zh-CN" sz="2800" b="1" dirty="0">
                <a:latin typeface="Times New Roman" panose="02020603050405020304" pitchFamily="18" charset="0"/>
                <a:ea typeface="魏碑" pitchFamily="49" charset="-122"/>
              </a:rPr>
              <a:t>cubic/pchip’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 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： 立方插值。</a:t>
            </a:r>
            <a:endParaRPr lang="zh-CN" altLang="en-US" sz="2800" b="1" dirty="0">
              <a:latin typeface="魏碑" pitchFamily="49" charset="-122"/>
              <a:ea typeface="魏碑" pitchFamily="49" charset="-122"/>
            </a:endParaRPr>
          </a:p>
          <a:p>
            <a:pPr marL="0" lvl="0" indent="0" eaLnBrk="1" hangingPunct="1">
              <a:spcBef>
                <a:spcPct val="10000"/>
              </a:spcBef>
              <a:buFontTx/>
              <a:buNone/>
            </a:pP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缺省时：  分段线性插值。</a:t>
            </a:r>
            <a:endParaRPr lang="zh-CN" altLang="en-US" sz="2800" b="1" dirty="0">
              <a:latin typeface="魏碑" pitchFamily="49" charset="-122"/>
              <a:ea typeface="魏碑" pitchFamily="49" charset="-122"/>
            </a:endParaRPr>
          </a:p>
        </p:txBody>
      </p:sp>
      <p:sp>
        <p:nvSpPr>
          <p:cNvPr id="22" name="Text Box 24"/>
          <p:cNvSpPr txBox="1"/>
          <p:nvPr/>
        </p:nvSpPr>
        <p:spPr>
          <a:xfrm>
            <a:off x="0" y="5614988"/>
            <a:ext cx="9144000" cy="8223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FontTx/>
              <a:buNone/>
            </a:pPr>
            <a:r>
              <a:rPr lang="zh-CN" altLang="en-US" sz="2400" b="1" dirty="0">
                <a:latin typeface="魏碑" pitchFamily="49" charset="-122"/>
                <a:ea typeface="魏碑" pitchFamily="49" charset="-122"/>
              </a:rPr>
              <a:t>注意：所有的插值方法都要求</a:t>
            </a:r>
            <a:r>
              <a:rPr lang="en-US" altLang="zh-CN" sz="2400" b="1" dirty="0">
                <a:latin typeface="魏碑" pitchFamily="49" charset="-122"/>
                <a:ea typeface="魏碑" pitchFamily="49" charset="-122"/>
              </a:rPr>
              <a:t>x</a:t>
            </a:r>
            <a:r>
              <a:rPr lang="zh-CN" altLang="en-US" sz="2400" b="1" dirty="0">
                <a:latin typeface="魏碑" pitchFamily="49" charset="-122"/>
                <a:ea typeface="魏碑" pitchFamily="49" charset="-122"/>
              </a:rPr>
              <a:t>是单调的，并且</a:t>
            </a:r>
            <a:r>
              <a:rPr lang="en-US" altLang="zh-CN" sz="2400" b="1" dirty="0">
                <a:latin typeface="Times New Roman" panose="02020603050405020304" pitchFamily="18" charset="0"/>
                <a:ea typeface="魏碑" pitchFamily="49" charset="-122"/>
              </a:rPr>
              <a:t>xi</a:t>
            </a:r>
            <a:r>
              <a:rPr lang="zh-CN" altLang="en-US" sz="2400" b="1" dirty="0">
                <a:latin typeface="魏碑" pitchFamily="49" charset="-122"/>
                <a:ea typeface="魏碑" pitchFamily="49" charset="-122"/>
              </a:rPr>
              <a:t>不能够超过</a:t>
            </a:r>
            <a:r>
              <a:rPr lang="en-US" altLang="zh-CN" sz="2400" b="1" dirty="0">
                <a:latin typeface="Times New Roman" panose="02020603050405020304" pitchFamily="18" charset="0"/>
                <a:ea typeface="魏碑" pitchFamily="49" charset="-122"/>
              </a:rPr>
              <a:t>x</a:t>
            </a:r>
            <a:r>
              <a:rPr lang="zh-CN" altLang="en-US" sz="2400" b="1" dirty="0">
                <a:latin typeface="魏碑" pitchFamily="49" charset="-122"/>
                <a:ea typeface="魏碑" pitchFamily="49" charset="-122"/>
              </a:rPr>
              <a:t>的范围。</a:t>
            </a:r>
            <a:endParaRPr lang="zh-CN" altLang="en-US" sz="2400" b="1" dirty="0">
              <a:latin typeface="魏碑" pitchFamily="49" charset="-122"/>
              <a:ea typeface="魏碑" pitchFamily="49" charset="-122"/>
            </a:endParaRPr>
          </a:p>
        </p:txBody>
      </p:sp>
      <p:sp>
        <p:nvSpPr>
          <p:cNvPr id="12297" name="标题 1"/>
          <p:cNvSpPr>
            <a:spLocks noGrp="1"/>
          </p:cNvSpPr>
          <p:nvPr>
            <p:ph type="title"/>
          </p:nvPr>
        </p:nvSpPr>
        <p:spPr>
          <a:xfrm>
            <a:off x="5187950" y="-85725"/>
            <a:ext cx="3271838" cy="1211263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en-US" altLang="zh-CN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Matlab</a:t>
            </a:r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实现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 bldLvl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矩形 1"/>
          <p:cNvSpPr/>
          <p:nvPr/>
        </p:nvSpPr>
        <p:spPr>
          <a:xfrm>
            <a:off x="539750" y="1468438"/>
            <a:ext cx="8208963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例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1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：在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1-12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的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11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小时内，每隔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1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小时测量一次温度，测得的温度依次为：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5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8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9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15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25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29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31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30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22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25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27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，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24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。试估计每隔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1/10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小时的温度值</a:t>
            </a:r>
            <a:r>
              <a:rPr lang="zh-CN" altLang="en-US" sz="1800" b="1" dirty="0">
                <a:latin typeface="魏碑" pitchFamily="49" charset="-122"/>
                <a:ea typeface="魏碑" pitchFamily="49" charset="-122"/>
              </a:rPr>
              <a:t>。</a:t>
            </a:r>
            <a:endParaRPr lang="zh-CN" altLang="en-US" sz="1800" b="1" dirty="0">
              <a:latin typeface="魏碑" pitchFamily="49" charset="-122"/>
              <a:ea typeface="魏碑" pitchFamily="49" charset="-122"/>
            </a:endParaRPr>
          </a:p>
        </p:txBody>
      </p:sp>
      <p:sp>
        <p:nvSpPr>
          <p:cNvPr id="5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9552" y="3893868"/>
            <a:ext cx="8208963" cy="1711366"/>
          </a:xfrm>
          <a:prstGeom prst="rect">
            <a:avLst/>
          </a:prstGeom>
          <a:blipFill>
            <a:blip r:embed="rId1"/>
            <a:stretch>
              <a:fillRect l="-1560" t="-4286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标题 1"/>
          <p:cNvSpPr>
            <a:spLocks noGrp="1"/>
          </p:cNvSpPr>
          <p:nvPr>
            <p:ph type="title"/>
          </p:nvPr>
        </p:nvSpPr>
        <p:spPr>
          <a:xfrm>
            <a:off x="5187950" y="-85725"/>
            <a:ext cx="3271838" cy="1211263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en-US" altLang="zh-CN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Example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24000" y="2189163"/>
          <a:ext cx="6216652" cy="2319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163"/>
                <a:gridCol w="1554163"/>
                <a:gridCol w="1554163"/>
                <a:gridCol w="1554163"/>
              </a:tblGrid>
              <a:tr h="463867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插值方法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运算时间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内存占用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光滑程度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</a:tr>
              <a:tr h="463867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临近点插值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快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少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差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</a:tr>
              <a:tr h="463867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线性插值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稍长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较多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稍差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</a:tr>
              <a:tr h="463867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三次样条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最长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较多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最好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</a:tr>
              <a:tr h="463867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分段三次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较长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多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较好</a:t>
                      </a:r>
                      <a:endParaRPr lang="zh-CN" altLang="en-US" sz="1800" dirty="0"/>
                    </a:p>
                  </a:txBody>
                  <a:tcPr marL="91444" marR="91444" marT="45706" marB="45706"/>
                </a:tc>
              </a:tr>
            </a:tbl>
          </a:graphicData>
        </a:graphic>
      </p:graphicFrame>
      <p:sp>
        <p:nvSpPr>
          <p:cNvPr id="15394" name="标题 1"/>
          <p:cNvSpPr>
            <a:spLocks noGrp="1"/>
          </p:cNvSpPr>
          <p:nvPr>
            <p:ph type="title"/>
          </p:nvPr>
        </p:nvSpPr>
        <p:spPr>
          <a:xfrm>
            <a:off x="5187950" y="-85725"/>
            <a:ext cx="3271838" cy="1211263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优缺点比较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3400" y="5029200"/>
            <a:ext cx="74676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</a:rPr>
              <a:t>要求</a:t>
            </a:r>
            <a:r>
              <a:rPr lang="en-US" altLang="zh-CN" sz="2800" b="1" dirty="0">
                <a:latin typeface="宋体" panose="02010600030101010101" pitchFamily="2" charset="-122"/>
              </a:rPr>
              <a:t>x0,y0</a:t>
            </a:r>
            <a:r>
              <a:rPr lang="zh-CN" altLang="en-US" sz="2800" b="1" dirty="0">
                <a:latin typeface="宋体" panose="02010600030101010101" pitchFamily="2" charset="-122"/>
              </a:rPr>
              <a:t>单调；</a:t>
            </a:r>
            <a:r>
              <a:rPr lang="en-US" altLang="zh-CN" sz="2800" b="1" dirty="0">
                <a:latin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y</a:t>
            </a:r>
            <a:r>
              <a:rPr lang="zh-CN" altLang="en-US" sz="2800" b="1" dirty="0">
                <a:latin typeface="宋体" panose="02010600030101010101" pitchFamily="2" charset="-122"/>
              </a:rPr>
              <a:t>可取</a:t>
            </a:r>
            <a:r>
              <a:rPr lang="zh-CN" altLang="zh-CN" sz="2800" b="1" dirty="0">
                <a:latin typeface="宋体" panose="02010600030101010101" pitchFamily="2" charset="-122"/>
              </a:rPr>
              <a:t>为矩阵，或</a:t>
            </a:r>
            <a:r>
              <a:rPr lang="en-US" altLang="zh-CN" sz="2800" b="1" dirty="0">
                <a:latin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宋体" panose="02010600030101010101" pitchFamily="2" charset="-122"/>
              </a:rPr>
              <a:t>取行向量，</a:t>
            </a:r>
            <a:r>
              <a:rPr lang="en-US" altLang="zh-CN" sz="2800" b="1" dirty="0">
                <a:latin typeface="宋体" panose="02010600030101010101" pitchFamily="2" charset="-122"/>
              </a:rPr>
              <a:t>y</a:t>
            </a:r>
            <a:r>
              <a:rPr lang="zh-CN" altLang="en-US" sz="2800" b="1" dirty="0">
                <a:latin typeface="宋体" panose="02010600030101010101" pitchFamily="2" charset="-122"/>
              </a:rPr>
              <a:t>取为列向量，</a:t>
            </a:r>
            <a:r>
              <a:rPr lang="en-US" altLang="zh-CN" sz="2800" b="1" dirty="0">
                <a:latin typeface="宋体" panose="02010600030101010101" pitchFamily="2" charset="-122"/>
              </a:rPr>
              <a:t>x,y</a:t>
            </a:r>
            <a:r>
              <a:rPr lang="zh-CN" altLang="zh-CN" sz="2800" b="1" dirty="0">
                <a:latin typeface="宋体" panose="02010600030101010101" pitchFamily="2" charset="-122"/>
              </a:rPr>
              <a:t>的值分别不能超出</a:t>
            </a:r>
            <a:r>
              <a:rPr lang="en-US" altLang="zh-CN" sz="2800" b="1" dirty="0">
                <a:latin typeface="宋体" panose="02010600030101010101" pitchFamily="2" charset="-122"/>
              </a:rPr>
              <a:t>x0,y0</a:t>
            </a:r>
            <a:r>
              <a:rPr lang="zh-CN" altLang="zh-CN" sz="2800" b="1" dirty="0">
                <a:latin typeface="宋体" panose="02010600030101010101" pitchFamily="2" charset="-122"/>
              </a:rPr>
              <a:t>的范围。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70013" y="1389063"/>
            <a:ext cx="7316787" cy="5476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隶书" panose="02010509060101010101" pitchFamily="49" charset="-122"/>
              </a:rPr>
              <a:t>z=interp2(x0,y0,z0,x,y,’method’)</a:t>
            </a:r>
            <a:endParaRPr lang="en-US" altLang="zh-CN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38600" y="1828800"/>
            <a:ext cx="1752600" cy="1062038"/>
            <a:chOff x="2448" y="1152"/>
            <a:chExt cx="1104" cy="669"/>
          </a:xfrm>
        </p:grpSpPr>
        <p:sp>
          <p:nvSpPr>
            <p:cNvPr id="16404" name="Text Box 5"/>
            <p:cNvSpPr txBox="1"/>
            <p:nvPr/>
          </p:nvSpPr>
          <p:spPr>
            <a:xfrm>
              <a:off x="2448" y="1488"/>
              <a:ext cx="1104" cy="333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被插值点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16405" name="Group 6"/>
            <p:cNvGrpSpPr/>
            <p:nvPr/>
          </p:nvGrpSpPr>
          <p:grpSpPr>
            <a:xfrm>
              <a:off x="2880" y="1152"/>
              <a:ext cx="528" cy="336"/>
              <a:chOff x="2832" y="1104"/>
              <a:chExt cx="528" cy="336"/>
            </a:xfrm>
          </p:grpSpPr>
          <p:sp>
            <p:nvSpPr>
              <p:cNvPr id="16406" name="Line 7"/>
              <p:cNvSpPr/>
              <p:nvPr/>
            </p:nvSpPr>
            <p:spPr>
              <a:xfrm>
                <a:off x="2976" y="110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7" name="Line 8"/>
              <p:cNvSpPr/>
              <p:nvPr/>
            </p:nvSpPr>
            <p:spPr>
              <a:xfrm flipV="1">
                <a:off x="2832" y="1104"/>
                <a:ext cx="336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9"/>
          <p:cNvGrpSpPr/>
          <p:nvPr/>
        </p:nvGrpSpPr>
        <p:grpSpPr>
          <a:xfrm>
            <a:off x="5791200" y="1828800"/>
            <a:ext cx="2133600" cy="1138238"/>
            <a:chOff x="3648" y="1152"/>
            <a:chExt cx="1344" cy="717"/>
          </a:xfrm>
        </p:grpSpPr>
        <p:sp>
          <p:nvSpPr>
            <p:cNvPr id="16400" name="Text Box 10"/>
            <p:cNvSpPr txBox="1"/>
            <p:nvPr/>
          </p:nvSpPr>
          <p:spPr>
            <a:xfrm>
              <a:off x="3888" y="1536"/>
              <a:ext cx="1104" cy="333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插值方法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16401" name="Group 11"/>
            <p:cNvGrpSpPr/>
            <p:nvPr/>
          </p:nvGrpSpPr>
          <p:grpSpPr>
            <a:xfrm>
              <a:off x="3648" y="1152"/>
              <a:ext cx="816" cy="384"/>
              <a:chOff x="3552" y="1104"/>
              <a:chExt cx="816" cy="384"/>
            </a:xfrm>
          </p:grpSpPr>
          <p:sp>
            <p:nvSpPr>
              <p:cNvPr id="16402" name="Line 12"/>
              <p:cNvSpPr/>
              <p:nvPr/>
            </p:nvSpPr>
            <p:spPr>
              <a:xfrm>
                <a:off x="3552" y="1104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3" name="Line 13"/>
              <p:cNvSpPr/>
              <p:nvPr/>
            </p:nvSpPr>
            <p:spPr>
              <a:xfrm>
                <a:off x="3936" y="1104"/>
                <a:ext cx="288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2495550" y="1828800"/>
            <a:ext cx="2152650" cy="1108075"/>
            <a:chOff x="1572" y="1152"/>
            <a:chExt cx="1356" cy="698"/>
          </a:xfrm>
        </p:grpSpPr>
        <p:sp>
          <p:nvSpPr>
            <p:cNvPr id="16397" name="Text Box 16"/>
            <p:cNvSpPr txBox="1"/>
            <p:nvPr/>
          </p:nvSpPr>
          <p:spPr>
            <a:xfrm>
              <a:off x="1572" y="1248"/>
              <a:ext cx="649" cy="602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插值节点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6398" name="Line 17"/>
            <p:cNvSpPr/>
            <p:nvPr/>
          </p:nvSpPr>
          <p:spPr>
            <a:xfrm>
              <a:off x="2064" y="1152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9" name="Line 18"/>
            <p:cNvSpPr/>
            <p:nvPr/>
          </p:nvSpPr>
          <p:spPr>
            <a:xfrm flipH="1">
              <a:off x="2234" y="1167"/>
              <a:ext cx="277" cy="43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79400" y="1746250"/>
            <a:ext cx="1798638" cy="1276350"/>
            <a:chOff x="176" y="1100"/>
            <a:chExt cx="1133" cy="804"/>
          </a:xfrm>
        </p:grpSpPr>
        <p:sp>
          <p:nvSpPr>
            <p:cNvPr id="16394" name="Line 20"/>
            <p:cNvSpPr/>
            <p:nvPr/>
          </p:nvSpPr>
          <p:spPr>
            <a:xfrm>
              <a:off x="889" y="1100"/>
              <a:ext cx="17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395" name="Text Box 21"/>
            <p:cNvSpPr txBox="1"/>
            <p:nvPr/>
          </p:nvSpPr>
          <p:spPr>
            <a:xfrm>
              <a:off x="176" y="1300"/>
              <a:ext cx="1133" cy="604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被插值点的函数值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6396" name="Line 22"/>
            <p:cNvSpPr/>
            <p:nvPr/>
          </p:nvSpPr>
          <p:spPr>
            <a:xfrm flipH="1">
              <a:off x="733" y="1100"/>
              <a:ext cx="245" cy="20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3" name="Text Box 23"/>
          <p:cNvSpPr txBox="1"/>
          <p:nvPr/>
        </p:nvSpPr>
        <p:spPr>
          <a:xfrm>
            <a:off x="4724400" y="3200400"/>
            <a:ext cx="5541963" cy="18161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nearest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lang="zh-CN" altLang="en-US" sz="2800" b="1" dirty="0">
                <a:latin typeface="宋体" panose="02010600030101010101" pitchFamily="2" charset="-122"/>
              </a:rPr>
              <a:t>最临近插值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linear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lang="zh-CN" altLang="en-US" sz="2800" b="1" dirty="0">
                <a:latin typeface="宋体" panose="02010600030101010101" pitchFamily="2" charset="-122"/>
              </a:rPr>
              <a:t>双线性插值（默认）</a:t>
            </a:r>
            <a:endParaRPr lang="zh-CN" altLang="en-US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cubic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</a:rPr>
              <a:t>双三次插值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spline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lang="zh-CN" altLang="en-US" sz="2800" b="1" dirty="0">
                <a:latin typeface="宋体" panose="02010600030101010101" pitchFamily="2" charset="-122"/>
              </a:rPr>
              <a:t>三次样条插值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16393" name="标题 1"/>
          <p:cNvSpPr>
            <a:spLocks noGrp="1"/>
          </p:cNvSpPr>
          <p:nvPr>
            <p:ph type="title"/>
          </p:nvPr>
        </p:nvSpPr>
        <p:spPr>
          <a:xfrm>
            <a:off x="5187950" y="-85725"/>
            <a:ext cx="3271838" cy="1211263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二维网格插值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3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2"/>
          <p:cNvSpPr txBox="1"/>
          <p:nvPr/>
        </p:nvSpPr>
        <p:spPr>
          <a:xfrm>
            <a:off x="685800" y="1808163"/>
            <a:ext cx="7945438" cy="2892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例</a:t>
            </a: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3</a:t>
            </a: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：测得平板表面</a:t>
            </a: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3*5</a:t>
            </a: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网格点处的温度分别为：                                                          </a:t>
            </a: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82  81  80  82  84</a:t>
            </a: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；</a:t>
            </a: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 </a:t>
            </a:r>
            <a:endParaRPr lang="en-US" altLang="zh-CN" sz="2800" dirty="0">
              <a:latin typeface="魏碑" pitchFamily="49" charset="-122"/>
              <a:ea typeface="魏碑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79  63  61  65  81</a:t>
            </a: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；</a:t>
            </a: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 </a:t>
            </a:r>
            <a:endParaRPr lang="en-US" altLang="zh-CN" sz="2800" dirty="0">
              <a:latin typeface="魏碑" pitchFamily="49" charset="-122"/>
              <a:ea typeface="魏碑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84  84  82  85  86     </a:t>
            </a:r>
            <a:endParaRPr lang="en-US" altLang="zh-CN" sz="2800" dirty="0">
              <a:latin typeface="魏碑" pitchFamily="49" charset="-122"/>
              <a:ea typeface="魏碑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试作出平板表面的温度分布曲面</a:t>
            </a:r>
            <a:r>
              <a:rPr lang="en-US" altLang="zh-CN" sz="2800" dirty="0">
                <a:latin typeface="魏碑" pitchFamily="49" charset="-122"/>
                <a:ea typeface="魏碑" pitchFamily="49" charset="-122"/>
              </a:rPr>
              <a:t>z=f(x,y)</a:t>
            </a:r>
            <a:r>
              <a:rPr lang="zh-CN" altLang="en-US" sz="2800" dirty="0">
                <a:latin typeface="魏碑" pitchFamily="49" charset="-122"/>
                <a:ea typeface="魏碑" pitchFamily="49" charset="-122"/>
              </a:rPr>
              <a:t>的图形。</a:t>
            </a:r>
            <a:endParaRPr lang="zh-CN" altLang="en-US" sz="2800" dirty="0">
              <a:latin typeface="魏碑" pitchFamily="49" charset="-122"/>
              <a:ea typeface="魏碑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8" name="对象 1"/>
          <p:cNvGraphicFramePr>
            <a:graphicFrameLocks noChangeAspect="1"/>
          </p:cNvGraphicFramePr>
          <p:nvPr/>
        </p:nvGraphicFramePr>
        <p:xfrm>
          <a:off x="252413" y="1271588"/>
          <a:ext cx="9647237" cy="523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414645" imgH="2943225" progId="Word.Document.8">
                  <p:embed/>
                </p:oleObj>
              </mc:Choice>
              <mc:Fallback>
                <p:oleObj name="" r:id="rId1" imgW="5414645" imgH="294322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413" y="1271588"/>
                        <a:ext cx="9647237" cy="5235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3400" y="5029200"/>
            <a:ext cx="74676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</a:rPr>
              <a:t>要求</a:t>
            </a:r>
            <a:r>
              <a:rPr lang="en-US" altLang="zh-CN" sz="2800" b="1" dirty="0">
                <a:latin typeface="宋体" panose="02010600030101010101" pitchFamily="2" charset="-122"/>
              </a:rPr>
              <a:t>x0,y0</a:t>
            </a:r>
            <a:r>
              <a:rPr lang="zh-CN" altLang="en-US" sz="2800" b="1" dirty="0">
                <a:latin typeface="宋体" panose="02010600030101010101" pitchFamily="2" charset="-122"/>
              </a:rPr>
              <a:t>单调；</a:t>
            </a:r>
            <a:r>
              <a:rPr lang="en-US" altLang="zh-CN" sz="2800" b="1" dirty="0">
                <a:latin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y</a:t>
            </a:r>
            <a:r>
              <a:rPr lang="zh-CN" altLang="en-US" sz="2800" b="1" dirty="0">
                <a:latin typeface="宋体" panose="02010600030101010101" pitchFamily="2" charset="-122"/>
              </a:rPr>
              <a:t>可取</a:t>
            </a:r>
            <a:r>
              <a:rPr lang="zh-CN" altLang="zh-CN" sz="2800" b="1" dirty="0">
                <a:latin typeface="宋体" panose="02010600030101010101" pitchFamily="2" charset="-122"/>
              </a:rPr>
              <a:t>为矩阵，或</a:t>
            </a:r>
            <a:r>
              <a:rPr lang="en-US" altLang="zh-CN" sz="2800" b="1" dirty="0">
                <a:latin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宋体" panose="02010600030101010101" pitchFamily="2" charset="-122"/>
              </a:rPr>
              <a:t>取行向量，</a:t>
            </a:r>
            <a:r>
              <a:rPr lang="en-US" altLang="zh-CN" sz="2800" b="1" dirty="0">
                <a:latin typeface="宋体" panose="02010600030101010101" pitchFamily="2" charset="-122"/>
              </a:rPr>
              <a:t>y</a:t>
            </a:r>
            <a:r>
              <a:rPr lang="zh-CN" altLang="en-US" sz="2800" b="1" dirty="0">
                <a:latin typeface="宋体" panose="02010600030101010101" pitchFamily="2" charset="-122"/>
              </a:rPr>
              <a:t>取为列向量，</a:t>
            </a:r>
            <a:r>
              <a:rPr lang="en-US" altLang="zh-CN" sz="2800" b="1" dirty="0">
                <a:latin typeface="宋体" panose="02010600030101010101" pitchFamily="2" charset="-122"/>
              </a:rPr>
              <a:t>x,y</a:t>
            </a:r>
            <a:r>
              <a:rPr lang="zh-CN" altLang="zh-CN" sz="2800" b="1" dirty="0">
                <a:latin typeface="宋体" panose="02010600030101010101" pitchFamily="2" charset="-122"/>
              </a:rPr>
              <a:t>的值分别不能超出</a:t>
            </a:r>
            <a:r>
              <a:rPr lang="en-US" altLang="zh-CN" sz="2800" b="1" dirty="0">
                <a:latin typeface="宋体" panose="02010600030101010101" pitchFamily="2" charset="-122"/>
              </a:rPr>
              <a:t>x0,y0</a:t>
            </a:r>
            <a:r>
              <a:rPr lang="zh-CN" altLang="zh-CN" sz="2800" b="1" dirty="0">
                <a:latin typeface="宋体" panose="02010600030101010101" pitchFamily="2" charset="-122"/>
              </a:rPr>
              <a:t>的范围。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70013" y="1389063"/>
            <a:ext cx="7316787" cy="5476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隶书" panose="02010509060101010101" pitchFamily="49" charset="-122"/>
              </a:rPr>
              <a:t>z=griddata(x0,y0,z0,x,y,’method’)</a:t>
            </a:r>
            <a:endParaRPr lang="en-US" altLang="zh-CN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38600" y="1828800"/>
            <a:ext cx="1752600" cy="1062038"/>
            <a:chOff x="2448" y="1152"/>
            <a:chExt cx="1104" cy="669"/>
          </a:xfrm>
        </p:grpSpPr>
        <p:sp>
          <p:nvSpPr>
            <p:cNvPr id="20500" name="Text Box 5"/>
            <p:cNvSpPr txBox="1"/>
            <p:nvPr/>
          </p:nvSpPr>
          <p:spPr>
            <a:xfrm>
              <a:off x="2448" y="1488"/>
              <a:ext cx="1104" cy="333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被插值点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20501" name="Group 6"/>
            <p:cNvGrpSpPr/>
            <p:nvPr/>
          </p:nvGrpSpPr>
          <p:grpSpPr>
            <a:xfrm>
              <a:off x="2880" y="1152"/>
              <a:ext cx="528" cy="336"/>
              <a:chOff x="2832" y="1104"/>
              <a:chExt cx="528" cy="336"/>
            </a:xfrm>
          </p:grpSpPr>
          <p:sp>
            <p:nvSpPr>
              <p:cNvPr id="20502" name="Line 7"/>
              <p:cNvSpPr/>
              <p:nvPr/>
            </p:nvSpPr>
            <p:spPr>
              <a:xfrm>
                <a:off x="2976" y="110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3" name="Line 8"/>
              <p:cNvSpPr/>
              <p:nvPr/>
            </p:nvSpPr>
            <p:spPr>
              <a:xfrm flipV="1">
                <a:off x="2832" y="1104"/>
                <a:ext cx="336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9"/>
          <p:cNvGrpSpPr/>
          <p:nvPr/>
        </p:nvGrpSpPr>
        <p:grpSpPr>
          <a:xfrm>
            <a:off x="5791200" y="1828800"/>
            <a:ext cx="2133600" cy="1138238"/>
            <a:chOff x="3648" y="1152"/>
            <a:chExt cx="1344" cy="717"/>
          </a:xfrm>
        </p:grpSpPr>
        <p:sp>
          <p:nvSpPr>
            <p:cNvPr id="20496" name="Text Box 10"/>
            <p:cNvSpPr txBox="1"/>
            <p:nvPr/>
          </p:nvSpPr>
          <p:spPr>
            <a:xfrm>
              <a:off x="3888" y="1536"/>
              <a:ext cx="1104" cy="333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插值方法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20497" name="Group 11"/>
            <p:cNvGrpSpPr/>
            <p:nvPr/>
          </p:nvGrpSpPr>
          <p:grpSpPr>
            <a:xfrm>
              <a:off x="3648" y="1152"/>
              <a:ext cx="816" cy="384"/>
              <a:chOff x="3552" y="1104"/>
              <a:chExt cx="816" cy="384"/>
            </a:xfrm>
          </p:grpSpPr>
          <p:sp>
            <p:nvSpPr>
              <p:cNvPr id="20498" name="Line 12"/>
              <p:cNvSpPr/>
              <p:nvPr/>
            </p:nvSpPr>
            <p:spPr>
              <a:xfrm>
                <a:off x="3552" y="1104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9" name="Line 13"/>
              <p:cNvSpPr/>
              <p:nvPr/>
            </p:nvSpPr>
            <p:spPr>
              <a:xfrm>
                <a:off x="3936" y="1104"/>
                <a:ext cx="288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2495550" y="1828800"/>
            <a:ext cx="2152650" cy="1108075"/>
            <a:chOff x="1572" y="1152"/>
            <a:chExt cx="1356" cy="698"/>
          </a:xfrm>
        </p:grpSpPr>
        <p:sp>
          <p:nvSpPr>
            <p:cNvPr id="20493" name="Text Box 16"/>
            <p:cNvSpPr txBox="1"/>
            <p:nvPr/>
          </p:nvSpPr>
          <p:spPr>
            <a:xfrm>
              <a:off x="1572" y="1248"/>
              <a:ext cx="649" cy="602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插值节点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0494" name="Line 17"/>
            <p:cNvSpPr/>
            <p:nvPr/>
          </p:nvSpPr>
          <p:spPr>
            <a:xfrm>
              <a:off x="2064" y="1152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5" name="Line 18"/>
            <p:cNvSpPr/>
            <p:nvPr/>
          </p:nvSpPr>
          <p:spPr>
            <a:xfrm flipH="1">
              <a:off x="2234" y="1167"/>
              <a:ext cx="277" cy="43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79400" y="1746250"/>
            <a:ext cx="1798638" cy="1276350"/>
            <a:chOff x="176" y="1100"/>
            <a:chExt cx="1133" cy="804"/>
          </a:xfrm>
        </p:grpSpPr>
        <p:sp>
          <p:nvSpPr>
            <p:cNvPr id="20490" name="Line 20"/>
            <p:cNvSpPr/>
            <p:nvPr/>
          </p:nvSpPr>
          <p:spPr>
            <a:xfrm>
              <a:off x="889" y="1100"/>
              <a:ext cx="17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491" name="Text Box 21"/>
            <p:cNvSpPr txBox="1"/>
            <p:nvPr/>
          </p:nvSpPr>
          <p:spPr>
            <a:xfrm>
              <a:off x="176" y="1300"/>
              <a:ext cx="1133" cy="604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被插值点的函数值</a:t>
              </a:r>
              <a:endPara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0492" name="Line 22"/>
            <p:cNvSpPr/>
            <p:nvPr/>
          </p:nvSpPr>
          <p:spPr>
            <a:xfrm flipH="1">
              <a:off x="733" y="1100"/>
              <a:ext cx="245" cy="20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3" name="Text Box 23"/>
          <p:cNvSpPr txBox="1"/>
          <p:nvPr/>
        </p:nvSpPr>
        <p:spPr>
          <a:xfrm>
            <a:off x="2700338" y="3213100"/>
            <a:ext cx="6443662" cy="1385888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nearest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lang="zh-CN" altLang="en-US" sz="2800" b="1" dirty="0">
                <a:latin typeface="宋体" panose="02010600030101010101" pitchFamily="2" charset="-122"/>
              </a:rPr>
              <a:t>最临近插值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(bi)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linear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(</a:t>
            </a:r>
            <a:r>
              <a:rPr lang="zh-CN" altLang="en-US" sz="2800" b="1" dirty="0">
                <a:latin typeface="宋体" panose="02010600030101010101" pitchFamily="2" charset="-122"/>
              </a:rPr>
              <a:t>双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线性插值（默认）</a:t>
            </a:r>
            <a:endParaRPr lang="zh-CN" altLang="en-US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‘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(bi)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cubic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’</a:t>
            </a:r>
            <a:r>
              <a: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    (</a:t>
            </a:r>
            <a:r>
              <a:rPr lang="zh-CN" altLang="en-US" sz="2800" b="1" dirty="0">
                <a:latin typeface="宋体" panose="02010600030101010101" pitchFamily="2" charset="-122"/>
              </a:rPr>
              <a:t>双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三次插值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20489" name="标题 1"/>
          <p:cNvSpPr>
            <a:spLocks noGrp="1"/>
          </p:cNvSpPr>
          <p:nvPr>
            <p:ph type="title"/>
          </p:nvPr>
        </p:nvSpPr>
        <p:spPr>
          <a:xfrm>
            <a:off x="5187950" y="-85725"/>
            <a:ext cx="3271838" cy="1211263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二维离散点插值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341438"/>
            <a:ext cx="8075613" cy="14398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：在某海域测得一些点（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y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处的水深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由下表给出，在矩形区域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(75,200)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×(-50,150)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内画出海底曲面的图形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Group 278"/>
          <p:cNvGraphicFramePr/>
          <p:nvPr/>
        </p:nvGraphicFramePr>
        <p:xfrm>
          <a:off x="755650" y="2820988"/>
          <a:ext cx="7715250" cy="2984500"/>
        </p:xfrm>
        <a:graphic>
          <a:graphicData uri="http://schemas.openxmlformats.org/drawingml/2006/table">
            <a:tbl>
              <a:tblPr/>
              <a:tblGrid>
                <a:gridCol w="965200"/>
                <a:gridCol w="963613"/>
                <a:gridCol w="950912"/>
                <a:gridCol w="977900"/>
                <a:gridCol w="965200"/>
                <a:gridCol w="963613"/>
                <a:gridCol w="965200"/>
                <a:gridCol w="963612"/>
              </a:tblGrid>
              <a:tr h="498475">
                <a:tc>
                  <a:txBody>
                    <a:bodyPr/>
                    <a:lstStyle>
                      <a:lvl1pPr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70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7970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70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7970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103.5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185.5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7.5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3606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141.5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137.5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157.5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107.5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117.5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-6.5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-81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56.5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-66.5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27813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27813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-33.5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 indent="-180975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0680">
                        <a:defRPr sz="28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20725">
                        <a:defRPr sz="24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86180">
                        <a:defRPr sz="2000"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593850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02155"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4593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165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3737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3095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606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195695" y="44450"/>
            <a:ext cx="1833245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拟  合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384300"/>
            <a:ext cx="8229600" cy="21355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研究目的：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在给定基准数据的基础上，寻求近似函数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或者待定参数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能较好地反映数据变化规律。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不要求通过给定数据点！！！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57200" y="3764915"/>
            <a:ext cx="8229600" cy="156146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主要内容：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最小二乘法、多项式拟合、自定义函数拟合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/>
              <a:t>已知基准数据：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拟合函数：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求解    使得                           最小。                           </a:t>
            </a:r>
            <a:endParaRPr lang="zh-CN" altLang="en-US" sz="2800"/>
          </a:p>
        </p:txBody>
      </p:sp>
      <p:graphicFrame>
        <p:nvGraphicFramePr>
          <p:cNvPr id="2" name="对象 -2147482624"/>
          <p:cNvGraphicFramePr>
            <a:graphicFrameLocks noChangeAspect="1"/>
          </p:cNvGraphicFramePr>
          <p:nvPr/>
        </p:nvGraphicFramePr>
        <p:xfrm>
          <a:off x="3470910" y="1600200"/>
          <a:ext cx="2202815" cy="45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104900" imgH="228600" progId="Equation.DSMT4">
                  <p:embed/>
                </p:oleObj>
              </mc:Choice>
              <mc:Fallback>
                <p:oleObj name="" r:id="rId1" imgW="11049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0910" y="1600200"/>
                        <a:ext cx="2202815" cy="456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624"/>
          <p:cNvGraphicFramePr>
            <a:graphicFrameLocks noChangeAspect="1"/>
          </p:cNvGraphicFramePr>
          <p:nvPr/>
        </p:nvGraphicFramePr>
        <p:xfrm>
          <a:off x="2743835" y="2695258"/>
          <a:ext cx="144335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23900" imgH="203200" progId="Equation.DSMT4">
                  <p:embed/>
                </p:oleObj>
              </mc:Choice>
              <mc:Fallback>
                <p:oleObj name="" r:id="rId3" imgW="7239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835" y="2695258"/>
                        <a:ext cx="144335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624"/>
          <p:cNvGraphicFramePr>
            <a:graphicFrameLocks noChangeAspect="1"/>
          </p:cNvGraphicFramePr>
          <p:nvPr/>
        </p:nvGraphicFramePr>
        <p:xfrm>
          <a:off x="1638300" y="3776663"/>
          <a:ext cx="278765" cy="35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139700" imgH="177165" progId="Equation.DSMT4">
                  <p:embed/>
                </p:oleObj>
              </mc:Choice>
              <mc:Fallback>
                <p:oleObj name="" r:id="rId5" imgW="139700" imgH="17716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8300" y="3776663"/>
                        <a:ext cx="278765" cy="354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624"/>
          <p:cNvGraphicFramePr>
            <a:graphicFrameLocks noChangeAspect="1"/>
          </p:cNvGraphicFramePr>
          <p:nvPr/>
        </p:nvGraphicFramePr>
        <p:xfrm>
          <a:off x="2665095" y="3431223"/>
          <a:ext cx="222948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1117600" imgH="431800" progId="Equation.DSMT4">
                  <p:embed/>
                </p:oleObj>
              </mc:Choice>
              <mc:Fallback>
                <p:oleObj name="" r:id="rId7" imgW="1117600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5095" y="3431223"/>
                        <a:ext cx="222948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195695" y="44450"/>
            <a:ext cx="2278380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最小二乘法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5580063" y="44450"/>
            <a:ext cx="2447925" cy="1209675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多项式拟合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395288" y="1484313"/>
            <a:ext cx="8229600" cy="1395412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原理：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利用最小二乘法确定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次多项式的系数。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23850" y="2105025"/>
            <a:ext cx="8229600" cy="13954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Matlab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" name="Text Box 3"/>
          <p:cNvSpPr txBox="1"/>
          <p:nvPr/>
        </p:nvSpPr>
        <p:spPr>
          <a:xfrm>
            <a:off x="609600" y="278130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仿宋_GB2312" pitchFamily="49" charset="-122"/>
                <a:ea typeface="仿宋_GB2312" pitchFamily="49" charset="-122"/>
              </a:rPr>
              <a:t>1. </a:t>
            </a: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作多项式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f(x)=a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+ …+a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x+a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仿宋_GB2312" pitchFamily="49" charset="-122"/>
              </a:rPr>
              <a:t>m+1</a:t>
            </a: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拟合</a:t>
            </a:r>
            <a:r>
              <a:rPr lang="en-US" altLang="zh-CN" sz="2400" b="1" dirty="0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可利用已有程序</a:t>
            </a:r>
            <a:r>
              <a: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endParaRPr lang="en-US" altLang="zh-CN" sz="2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" name="Text Box 4"/>
          <p:cNvSpPr txBox="1"/>
          <p:nvPr/>
        </p:nvSpPr>
        <p:spPr>
          <a:xfrm>
            <a:off x="2362200" y="3390900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隶书" panose="02010509060101010101" pitchFamily="49" charset="-122"/>
              </a:rPr>
              <a:t>a=polyfit(x,y,m)</a:t>
            </a:r>
            <a:endParaRPr lang="en-US" altLang="zh-CN" sz="2400" dirty="0">
              <a:latin typeface="Courier New" panose="02070309020205020404" pitchFamily="49" charset="0"/>
              <a:ea typeface="隶书" panose="02010509060101010101" pitchFamily="49" charset="-122"/>
            </a:endParaRPr>
          </a:p>
        </p:txBody>
      </p:sp>
      <p:grpSp>
        <p:nvGrpSpPr>
          <p:cNvPr id="9" name="Group 15"/>
          <p:cNvGrpSpPr/>
          <p:nvPr/>
        </p:nvGrpSpPr>
        <p:grpSpPr>
          <a:xfrm>
            <a:off x="0" y="3771900"/>
            <a:ext cx="4267200" cy="1471613"/>
            <a:chOff x="0" y="1584"/>
            <a:chExt cx="2688" cy="927"/>
          </a:xfrm>
        </p:grpSpPr>
        <p:sp>
          <p:nvSpPr>
            <p:cNvPr id="24592" name="Text Box 16"/>
            <p:cNvSpPr txBox="1"/>
            <p:nvPr/>
          </p:nvSpPr>
          <p:spPr>
            <a:xfrm>
              <a:off x="0" y="1872"/>
              <a:ext cx="2688" cy="639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魏碑" pitchFamily="49" charset="-122"/>
                  <a:ea typeface="魏碑" pitchFamily="49" charset="-122"/>
                </a:rPr>
                <a:t>输出拟合多项式系数</a:t>
              </a:r>
              <a:endParaRPr lang="zh-CN" altLang="en-US" sz="2400" b="1" dirty="0">
                <a:latin typeface="魏碑" pitchFamily="49" charset="-122"/>
                <a:ea typeface="魏碑" pitchFamily="49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魏碑" pitchFamily="49" charset="-122"/>
                </a:rPr>
                <a:t>a=[</a:t>
              </a:r>
              <a:r>
                <a:rPr lang="en-US" altLang="zh-CN" sz="2400" b="1" dirty="0">
                  <a:latin typeface="Courier New" panose="02070309020205020404" pitchFamily="49" charset="0"/>
                  <a:ea typeface="隶书" panose="02010509060101010101" pitchFamily="49" charset="-122"/>
                </a:rPr>
                <a:t>a</a:t>
              </a:r>
              <a:r>
                <a:rPr lang="en-US" altLang="zh-CN" sz="2400" b="1" baseline="-25000" dirty="0">
                  <a:latin typeface="Courier New" panose="02070309020205020404" pitchFamily="49" charset="0"/>
                  <a:ea typeface="隶书" panose="02010509060101010101" pitchFamily="49" charset="-122"/>
                </a:rPr>
                <a:t>1</a:t>
              </a:r>
              <a:r>
                <a:rPr lang="en-US" altLang="zh-CN" sz="2400" b="1" dirty="0">
                  <a:latin typeface="Courier New" panose="02070309020205020404" pitchFamily="49" charset="0"/>
                  <a:ea typeface="隶书" panose="02010509060101010101" pitchFamily="49" charset="-122"/>
                </a:rPr>
                <a:t>, …a</a:t>
              </a:r>
              <a:r>
                <a:rPr lang="en-US" altLang="zh-CN" sz="2400" b="1" baseline="-25000" dirty="0">
                  <a:latin typeface="Courier New" panose="02070309020205020404" pitchFamily="49" charset="0"/>
                  <a:ea typeface="隶书" panose="02010509060101010101" pitchFamily="49" charset="-122"/>
                </a:rPr>
                <a:t>m </a:t>
              </a:r>
              <a:r>
                <a:rPr lang="en-US" altLang="zh-CN" sz="2400" b="1" dirty="0">
                  <a:latin typeface="Courier New" panose="02070309020205020404" pitchFamily="49" charset="0"/>
                  <a:ea typeface="隶书" panose="02010509060101010101" pitchFamily="49" charset="-122"/>
                </a:rPr>
                <a:t>,</a:t>
              </a:r>
              <a:r>
                <a:rPr lang="en-US" altLang="zh-CN" sz="2400" b="1" baseline="-25000" dirty="0">
                  <a:latin typeface="Courier New" panose="02070309020205020404" pitchFamily="49" charset="0"/>
                  <a:ea typeface="隶书" panose="02010509060101010101" pitchFamily="49" charset="-122"/>
                </a:rPr>
                <a:t> </a:t>
              </a:r>
              <a:r>
                <a:rPr lang="en-US" altLang="zh-CN" sz="2400" b="1" dirty="0">
                  <a:latin typeface="Courier New" panose="02070309020205020404" pitchFamily="49" charset="0"/>
                  <a:ea typeface="隶书" panose="02010509060101010101" pitchFamily="49" charset="-122"/>
                </a:rPr>
                <a:t>a</a:t>
              </a:r>
              <a:r>
                <a:rPr lang="en-US" altLang="zh-CN" sz="2400" b="1" baseline="-25000" dirty="0">
                  <a:latin typeface="Courier New" panose="02070309020205020404" pitchFamily="49" charset="0"/>
                  <a:ea typeface="隶书" panose="02010509060101010101" pitchFamily="49" charset="-122"/>
                </a:rPr>
                <a:t>m+1</a:t>
              </a:r>
              <a:r>
                <a:rPr lang="en-US" altLang="zh-CN" sz="2400" b="1" dirty="0">
                  <a:latin typeface="Courier New" panose="02070309020205020404" pitchFamily="49" charset="0"/>
                  <a:ea typeface="隶书" panose="02010509060101010101" pitchFamily="49" charset="-122"/>
                </a:rPr>
                <a:t>]</a:t>
              </a:r>
              <a:r>
                <a:rPr lang="en-US" altLang="zh-CN" sz="24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 (</a:t>
              </a:r>
              <a:r>
                <a:rPr lang="zh-CN" altLang="en-US" sz="2400" b="1" dirty="0">
                  <a:latin typeface="魏碑" pitchFamily="49" charset="-122"/>
                  <a:ea typeface="魏碑" pitchFamily="49" charset="-122"/>
                </a:rPr>
                <a:t>数组</a:t>
              </a:r>
              <a:r>
                <a:rPr lang="en-US" altLang="zh-CN" sz="2400" b="1" dirty="0">
                  <a:latin typeface="魏碑" pitchFamily="49" charset="-122"/>
                  <a:ea typeface="魏碑" pitchFamily="49" charset="-122"/>
                </a:rPr>
                <a:t>)</a:t>
              </a:r>
              <a:r>
                <a:rPr lang="zh-CN" altLang="en-US" sz="2400" b="1" dirty="0">
                  <a:latin typeface="魏碑" pitchFamily="49" charset="-122"/>
                  <a:ea typeface="魏碑" pitchFamily="49" charset="-122"/>
                </a:rPr>
                <a:t>）</a:t>
              </a:r>
              <a:endParaRPr lang="zh-CN" altLang="en-US" sz="2400" b="1" dirty="0">
                <a:latin typeface="魏碑" pitchFamily="49" charset="-122"/>
                <a:ea typeface="魏碑" pitchFamily="49" charset="-122"/>
              </a:endParaRPr>
            </a:p>
          </p:txBody>
        </p:sp>
        <p:sp>
          <p:nvSpPr>
            <p:cNvPr id="24593" name="Line 17"/>
            <p:cNvSpPr/>
            <p:nvPr/>
          </p:nvSpPr>
          <p:spPr>
            <a:xfrm flipV="1">
              <a:off x="1008" y="1584"/>
              <a:ext cx="528" cy="288"/>
            </a:xfrm>
            <a:prstGeom prst="line">
              <a:avLst/>
            </a:prstGeom>
            <a:ln w="9525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2" name="Group 18"/>
          <p:cNvGrpSpPr/>
          <p:nvPr/>
        </p:nvGrpSpPr>
        <p:grpSpPr>
          <a:xfrm>
            <a:off x="4343400" y="3771900"/>
            <a:ext cx="2085975" cy="1471613"/>
            <a:chOff x="2736" y="1584"/>
            <a:chExt cx="1314" cy="927"/>
          </a:xfrm>
        </p:grpSpPr>
        <p:sp>
          <p:nvSpPr>
            <p:cNvPr id="24589" name="Text Box 19"/>
            <p:cNvSpPr txBox="1"/>
            <p:nvPr/>
          </p:nvSpPr>
          <p:spPr>
            <a:xfrm>
              <a:off x="2878" y="1872"/>
              <a:ext cx="1172" cy="639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输入同长度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的数组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Line 20"/>
            <p:cNvSpPr/>
            <p:nvPr/>
          </p:nvSpPr>
          <p:spPr>
            <a:xfrm>
              <a:off x="2736" y="1584"/>
              <a:ext cx="336" cy="0"/>
            </a:xfrm>
            <a:prstGeom prst="line">
              <a:avLst/>
            </a:prstGeom>
            <a:ln w="9525" cap="flat" cmpd="sng">
              <a:solidFill>
                <a:srgbClr val="0099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1" name="Line 21"/>
            <p:cNvSpPr/>
            <p:nvPr/>
          </p:nvSpPr>
          <p:spPr>
            <a:xfrm flipH="1" flipV="1">
              <a:off x="2928" y="1584"/>
              <a:ext cx="96" cy="288"/>
            </a:xfrm>
            <a:prstGeom prst="line">
              <a:avLst/>
            </a:prstGeom>
            <a:ln w="9525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6" name="Group 22"/>
          <p:cNvGrpSpPr/>
          <p:nvPr/>
        </p:nvGrpSpPr>
        <p:grpSpPr>
          <a:xfrm>
            <a:off x="5181600" y="3695700"/>
            <a:ext cx="3248025" cy="1547813"/>
            <a:chOff x="3264" y="1536"/>
            <a:chExt cx="2046" cy="975"/>
          </a:xfrm>
        </p:grpSpPr>
        <p:sp>
          <p:nvSpPr>
            <p:cNvPr id="24587" name="Text Box 23"/>
            <p:cNvSpPr txBox="1"/>
            <p:nvPr/>
          </p:nvSpPr>
          <p:spPr>
            <a:xfrm>
              <a:off x="4412" y="1872"/>
              <a:ext cx="898" cy="639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拟合多项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式次数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Line 24"/>
            <p:cNvSpPr/>
            <p:nvPr/>
          </p:nvSpPr>
          <p:spPr>
            <a:xfrm flipH="1" flipV="1">
              <a:off x="3264" y="1536"/>
              <a:ext cx="1152" cy="384"/>
            </a:xfrm>
            <a:prstGeom prst="line">
              <a:avLst/>
            </a:prstGeom>
            <a:ln w="9525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9" name="Text Box 13"/>
          <p:cNvSpPr txBox="1"/>
          <p:nvPr/>
        </p:nvSpPr>
        <p:spPr>
          <a:xfrm>
            <a:off x="609600" y="5229225"/>
            <a:ext cx="7696200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多项式在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处的值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可用以下命令计算：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y=polyval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）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5" name="Text Box 3"/>
          <p:cNvSpPr txBox="1"/>
          <p:nvPr/>
        </p:nvSpPr>
        <p:spPr>
          <a:xfrm>
            <a:off x="533400" y="1265238"/>
            <a:ext cx="6651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超定方程组</a:t>
            </a:r>
            <a:r>
              <a:rPr lang="zh-CN" altLang="en-US" sz="2400" b="1" dirty="0">
                <a:latin typeface="Times New Roman" panose="02020603050405020304" pitchFamily="18" charset="0"/>
              </a:rPr>
              <a:t>：方程个数大于未知量个数的方程组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838200" y="1722438"/>
          <a:ext cx="516413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49500" imgH="711200" progId="Equation.3">
                  <p:embed/>
                </p:oleObj>
              </mc:Choice>
              <mc:Fallback>
                <p:oleObj name="" r:id="rId1" imgW="2349500" imgH="711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722438"/>
                        <a:ext cx="5164138" cy="156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>
          <a:xfrm>
            <a:off x="304800" y="2179638"/>
            <a:ext cx="8185150" cy="2514600"/>
            <a:chOff x="192" y="1056"/>
            <a:chExt cx="5156" cy="1584"/>
          </a:xfrm>
        </p:grpSpPr>
        <p:sp>
          <p:nvSpPr>
            <p:cNvPr id="25610" name="Text Box 6"/>
            <p:cNvSpPr txBox="1"/>
            <p:nvPr/>
          </p:nvSpPr>
          <p:spPr>
            <a:xfrm>
              <a:off x="4128" y="1056"/>
              <a:ext cx="8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即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Ra=y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11" name="Group 7"/>
            <p:cNvGrpSpPr/>
            <p:nvPr/>
          </p:nvGrpSpPr>
          <p:grpSpPr>
            <a:xfrm>
              <a:off x="192" y="1776"/>
              <a:ext cx="5156" cy="864"/>
              <a:chOff x="240" y="1872"/>
              <a:chExt cx="5156" cy="864"/>
            </a:xfrm>
          </p:grpSpPr>
          <p:graphicFrame>
            <p:nvGraphicFramePr>
              <p:cNvPr id="25612" name="Object 8"/>
              <p:cNvGraphicFramePr>
                <a:graphicFrameLocks noChangeAspect="1"/>
              </p:cNvGraphicFramePr>
              <p:nvPr/>
            </p:nvGraphicFramePr>
            <p:xfrm>
              <a:off x="816" y="1872"/>
              <a:ext cx="4580" cy="8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" name="" r:id="rId3" imgW="2743200" imgH="711200" progId="Equation.3">
                      <p:embed/>
                    </p:oleObj>
                  </mc:Choice>
                  <mc:Fallback>
                    <p:oleObj name="" r:id="rId3" imgW="2743200" imgH="711200" progId="Equation.3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16" y="1872"/>
                            <a:ext cx="4580" cy="8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3" name="Text Box 9"/>
              <p:cNvSpPr txBox="1"/>
              <p:nvPr/>
            </p:nvSpPr>
            <p:spPr>
              <a:xfrm>
                <a:off x="240" y="2160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其中</a:t>
                </a:r>
                <a:endParaRPr lang="zh-CN" altLang="en-US" sz="2400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64522" name="Text Box 10"/>
          <p:cNvSpPr txBox="1"/>
          <p:nvPr/>
        </p:nvSpPr>
        <p:spPr>
          <a:xfrm>
            <a:off x="838200" y="4770438"/>
            <a:ext cx="5727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超定方程一般是不存在解的矛盾方程组。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1"/>
          <p:cNvGrpSpPr/>
          <p:nvPr/>
        </p:nvGrpSpPr>
        <p:grpSpPr>
          <a:xfrm>
            <a:off x="228600" y="5075238"/>
            <a:ext cx="8915400" cy="1233487"/>
            <a:chOff x="144" y="2880"/>
            <a:chExt cx="5616" cy="777"/>
          </a:xfrm>
        </p:grpSpPr>
        <p:sp>
          <p:nvSpPr>
            <p:cNvPr id="25608" name="Text Box 12"/>
            <p:cNvSpPr txBox="1"/>
            <p:nvPr/>
          </p:nvSpPr>
          <p:spPr>
            <a:xfrm>
              <a:off x="144" y="3024"/>
              <a:ext cx="5616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如果有向量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使得                                                        达到最小，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则称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为上述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超定方程的最小二乘解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。     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09" name="Object 13"/>
            <p:cNvGraphicFramePr>
              <a:graphicFrameLocks noChangeAspect="1"/>
            </p:cNvGraphicFramePr>
            <p:nvPr/>
          </p:nvGraphicFramePr>
          <p:xfrm>
            <a:off x="2112" y="2880"/>
            <a:ext cx="2521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5" imgW="1993900" imgH="431800" progId="Equation.3">
                    <p:embed/>
                  </p:oleObj>
                </mc:Choice>
                <mc:Fallback>
                  <p:oleObj name="" r:id="rId5" imgW="1993900" imgH="4318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12" y="2880"/>
                          <a:ext cx="2521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标题 1"/>
          <p:cNvSpPr txBox="1">
            <a:spLocks noChangeArrowheads="1"/>
          </p:cNvSpPr>
          <p:nvPr/>
        </p:nvSpPr>
        <p:spPr>
          <a:xfrm>
            <a:off x="5580063" y="44450"/>
            <a:ext cx="2663825" cy="12096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超定方程求解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/>
      <p:bldP spid="645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323850" y="2178050"/>
            <a:ext cx="8229600" cy="13954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Matlab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R=[(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x.^n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)’ … x’ ones(m,1)];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             A=R\y’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矩形 1"/>
          <p:cNvSpPr/>
          <p:nvPr/>
        </p:nvSpPr>
        <p:spPr>
          <a:xfrm>
            <a:off x="539750" y="1468438"/>
            <a:ext cx="8208963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例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6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：</a:t>
            </a:r>
            <a:r>
              <a:rPr lang="en-US" altLang="zh-CN" sz="2800" b="1" dirty="0">
                <a:latin typeface="魏碑" pitchFamily="49" charset="-122"/>
                <a:ea typeface="魏碑" pitchFamily="49" charset="-122"/>
              </a:rPr>
              <a:t>x=[0.3 0.4 0.7 0.9 1.2 1.9 2.8 3.2 3.7 4.5],Y=[1 2 3 4 2 6 9 2 7 8].</a:t>
            </a:r>
            <a:r>
              <a:rPr lang="zh-CN" altLang="en-US" sz="2800" b="1" dirty="0">
                <a:latin typeface="魏碑" pitchFamily="49" charset="-122"/>
                <a:ea typeface="魏碑" pitchFamily="49" charset="-122"/>
              </a:rPr>
              <a:t>做二次多项式拟合。</a:t>
            </a:r>
            <a:endParaRPr lang="zh-CN" altLang="en-US" sz="1800" b="1" dirty="0">
              <a:latin typeface="魏碑" pitchFamily="49" charset="-122"/>
              <a:ea typeface="魏碑" pitchFamily="49" charset="-122"/>
            </a:endParaRPr>
          </a:p>
        </p:txBody>
      </p:sp>
      <p:sp>
        <p:nvSpPr>
          <p:cNvPr id="27651" name="标题 1"/>
          <p:cNvSpPr>
            <a:spLocks noGrp="1"/>
          </p:cNvSpPr>
          <p:nvPr>
            <p:ph type="title"/>
          </p:nvPr>
        </p:nvSpPr>
        <p:spPr>
          <a:xfrm>
            <a:off x="5187950" y="-85725"/>
            <a:ext cx="3271838" cy="1211263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en-US" altLang="zh-CN" sz="3200" dirty="0">
                <a:solidFill>
                  <a:srgbClr val="FF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Example</a:t>
            </a:r>
            <a:endParaRPr lang="zh-CN" altLang="en-US" sz="3200" dirty="0">
              <a:solidFill>
                <a:srgbClr val="FF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7652" name="文本框 5"/>
          <p:cNvSpPr txBox="1"/>
          <p:nvPr/>
        </p:nvSpPr>
        <p:spPr>
          <a:xfrm>
            <a:off x="539750" y="3357563"/>
            <a:ext cx="5472113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魏碑" pitchFamily="49" charset="-122"/>
              </a:rPr>
              <a:t>例</a:t>
            </a:r>
            <a:r>
              <a:rPr lang="en-US" altLang="zh-CN" sz="2800" b="1" dirty="0">
                <a:latin typeface="Arial" panose="020B0604020202020204" pitchFamily="34" charset="0"/>
                <a:ea typeface="魏碑" pitchFamily="49" charset="-122"/>
              </a:rPr>
              <a:t>7</a:t>
            </a:r>
            <a:r>
              <a:rPr lang="zh-CN" altLang="en-US" sz="2800" b="1" dirty="0">
                <a:latin typeface="Arial" panose="020B0604020202020204" pitchFamily="34" charset="0"/>
                <a:ea typeface="魏碑" pitchFamily="49" charset="-122"/>
              </a:rPr>
              <a:t>：</a:t>
            </a:r>
            <a:r>
              <a:rPr lang="en-US" altLang="zh-CN" sz="2800" b="1" dirty="0">
                <a:latin typeface="Arial" panose="020B0604020202020204" pitchFamily="34" charset="0"/>
                <a:ea typeface="魏碑" pitchFamily="49" charset="-122"/>
              </a:rPr>
              <a:t>4</a:t>
            </a:r>
            <a:r>
              <a:rPr lang="zh-CN" altLang="en-US" sz="2800" b="1" dirty="0">
                <a:latin typeface="Arial" panose="020B0604020202020204" pitchFamily="34" charset="0"/>
                <a:ea typeface="魏碑" pitchFamily="49" charset="-122"/>
              </a:rPr>
              <a:t>阶多项式拟合如下函数</a:t>
            </a:r>
            <a:endParaRPr lang="en-US" altLang="zh-CN" sz="2800" b="1" dirty="0">
              <a:latin typeface="Arial" panose="020B0604020202020204" pitchFamily="34" charset="0"/>
              <a:ea typeface="魏碑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sz="2800" b="1" dirty="0">
              <a:latin typeface="Arial" panose="020B0604020202020204" pitchFamily="34" charset="0"/>
              <a:ea typeface="魏碑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魏碑" pitchFamily="49" charset="-122"/>
              </a:rPr>
              <a:t>x=1:20,y=x+3*sin(x)</a:t>
            </a:r>
            <a:endParaRPr lang="en-US" altLang="zh-CN" sz="2800" b="1" dirty="0">
              <a:latin typeface="Arial" panose="020B0604020202020204" pitchFamily="34" charset="0"/>
              <a:ea typeface="魏碑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2"/>
          <p:cNvSpPr txBox="1"/>
          <p:nvPr/>
        </p:nvSpPr>
        <p:spPr>
          <a:xfrm>
            <a:off x="381000" y="2667000"/>
            <a:ext cx="8763000" cy="2576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-533400" algn="just"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1. lsqcurvefit</a:t>
            </a:r>
            <a:endParaRPr lang="en-US" altLang="zh-CN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已知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数据点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：  </a:t>
            </a:r>
            <a:r>
              <a:rPr lang="en-US" altLang="zh-CN" sz="2400" b="1" dirty="0">
                <a:latin typeface="宋体" panose="02010600030101010101" pitchFamily="2" charset="-122"/>
              </a:rPr>
              <a:t>xdata=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xdata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xdata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xdata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），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      </a:t>
            </a:r>
            <a:r>
              <a:rPr lang="en-US" altLang="zh-CN" sz="2400" b="1" dirty="0">
                <a:latin typeface="宋体" panose="02010600030101010101" pitchFamily="2" charset="-122"/>
              </a:rPr>
              <a:t>ydata=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ydata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ydata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ydata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14300" imgH="215900" progId="Equation.3">
                  <p:embed/>
                </p:oleObj>
              </mc:Choice>
              <mc:Fallback>
                <p:oleObj name="" r:id="rId3" imgW="114300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Text Box 5"/>
          <p:cNvSpPr txBox="1"/>
          <p:nvPr/>
        </p:nvSpPr>
        <p:spPr>
          <a:xfrm>
            <a:off x="3409950" y="476250"/>
            <a:ext cx="5410200" cy="457200"/>
          </a:xfrm>
          <a:prstGeom prst="rect">
            <a:avLst/>
          </a:prstGeom>
          <a:solidFill>
            <a:srgbClr val="FF99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用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MATLAB</a:t>
            </a: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作非线性最小二乘拟合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2710" name="Text Box 6"/>
          <p:cNvSpPr txBox="1"/>
          <p:nvPr/>
        </p:nvSpPr>
        <p:spPr>
          <a:xfrm>
            <a:off x="304800" y="1219200"/>
            <a:ext cx="8458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  Matlab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的提供了两个求非线性最小二乘拟合的函数：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lsqcurvefit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lsqnonlin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。两个命令都要先建立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M-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文件</a:t>
            </a:r>
            <a:r>
              <a:rPr lang="en-US" altLang="zh-CN" sz="2400" b="1" dirty="0">
                <a:latin typeface="宋体" panose="02010600030101010101" pitchFamily="2" charset="-122"/>
              </a:rPr>
              <a:t>fun.m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，在其中定义函数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f(x)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，但两者定义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f(x)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的方式是不同的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可参考例题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81000" y="3962400"/>
            <a:ext cx="7658100" cy="2622550"/>
            <a:chOff x="240" y="2496"/>
            <a:chExt cx="4824" cy="1652"/>
          </a:xfrm>
        </p:grpSpPr>
        <p:graphicFrame>
          <p:nvGraphicFramePr>
            <p:cNvPr id="28680" name="Object 9"/>
            <p:cNvGraphicFramePr>
              <a:graphicFrameLocks noChangeAspect="1"/>
            </p:cNvGraphicFramePr>
            <p:nvPr/>
          </p:nvGraphicFramePr>
          <p:xfrm>
            <a:off x="1392" y="3552"/>
            <a:ext cx="2807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4" imgW="2070100" imgH="457200" progId="Equation.3">
                    <p:embed/>
                  </p:oleObj>
                </mc:Choice>
                <mc:Fallback>
                  <p:oleObj name="" r:id="rId4" imgW="2070100" imgH="4572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92" y="3552"/>
                          <a:ext cx="2807" cy="5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1" name="Text Box 10"/>
            <p:cNvSpPr txBox="1"/>
            <p:nvPr/>
          </p:nvSpPr>
          <p:spPr>
            <a:xfrm>
              <a:off x="240" y="2496"/>
              <a:ext cx="4824" cy="10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lsqcurvefit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用以求含参量</a:t>
              </a:r>
              <a:r>
                <a:rPr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（向量）的向量值函数</a:t>
              </a:r>
              <a:endPara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F(x,xdata)=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F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x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xdata</a:t>
              </a:r>
              <a:r>
                <a:rPr lang="en-US" altLang="zh-CN" sz="2400" b="1" baseline="-25000" dirty="0">
                  <a:solidFill>
                    <a:srgbClr val="FF6600"/>
                  </a:solidFill>
                  <a:latin typeface="宋体" panose="02010600030101010101" pitchFamily="2" charset="-122"/>
                </a:rPr>
                <a:t>1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），</a:t>
              </a:r>
              <a:r>
                <a:rPr lang="en-US" altLang="zh-CN" sz="2400" b="1" dirty="0">
                  <a:solidFill>
                    <a:srgbClr val="FF66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F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x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xdata</a:t>
              </a:r>
              <a:r>
                <a:rPr lang="en-US" altLang="zh-CN" sz="2400" b="1" baseline="-25000" dirty="0">
                  <a:solidFill>
                    <a:srgbClr val="FF6600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2400" b="1" dirty="0">
                  <a:solidFill>
                    <a:srgbClr val="FF6600"/>
                  </a:solidFill>
                  <a:latin typeface="宋体" panose="02010600030101010101" pitchFamily="2" charset="-122"/>
                </a:rPr>
                <a:t>））</a:t>
              </a:r>
              <a:r>
                <a:rPr lang="en-US" altLang="zh-CN" sz="2400" b="1" baseline="30000" dirty="0">
                  <a:solidFill>
                    <a:srgbClr val="FF6600"/>
                  </a:solidFill>
                  <a:latin typeface="宋体" panose="02010600030101010101" pitchFamily="2" charset="-122"/>
                </a:rPr>
                <a:t>T</a:t>
              </a:r>
              <a:endPara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中的参变量</a:t>
              </a:r>
              <a:r>
                <a:rPr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x(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向量</a:t>
              </a:r>
              <a:r>
                <a:rPr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),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使得  </a:t>
              </a:r>
              <a:endPara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9" grpId="0" bldLvl="0" animBg="1"/>
      <p:bldP spid="727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0" y="1058863"/>
            <a:ext cx="9144000" cy="3378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输入格式为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(1)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 = </a:t>
            </a:r>
            <a:r>
              <a:rPr lang="en-US" altLang="zh-CN" sz="2400" dirty="0">
                <a:latin typeface="Times New Roman" panose="02020603050405020304" pitchFamily="18" charset="0"/>
              </a:rPr>
              <a:t>lsqcurvefit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(‘fun’,x0,xdata,ydata)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914400" lvl="2" indent="-5334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(2)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x =lsqcurvefit (‘fun’,x0,xdata,ydata,options);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(3)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 = lsqcurvefit (‘fun’,x0,xdata,ydata,options,’grad’);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914400" lvl="2" indent="-5334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(4)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[x, options] = lsqcurvefit (‘fun’,x0,xdata,ydata,…);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914400" lvl="2" indent="-5334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(5)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[x, options,funval] = lsqcurvefit (‘fun’,x0,xdata,ydata,…);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914400" lvl="2" indent="-5334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(6)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[x, options,funval, Jacob] = lsqcurvefit (‘fun’,x0,xdata,ydata,…);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036638" y="4649788"/>
            <a:ext cx="3265487" cy="1803400"/>
            <a:chOff x="528" y="2688"/>
            <a:chExt cx="2057" cy="1136"/>
          </a:xfrm>
        </p:grpSpPr>
        <p:sp>
          <p:nvSpPr>
            <p:cNvPr id="29711" name="Text Box 4"/>
            <p:cNvSpPr txBox="1"/>
            <p:nvPr/>
          </p:nvSpPr>
          <p:spPr>
            <a:xfrm>
              <a:off x="528" y="2976"/>
              <a:ext cx="2057" cy="84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fun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是一个事先建立的定义函数</a:t>
              </a:r>
              <a:r>
                <a:rPr lang="en-US" altLang="en-US" sz="2400" b="1" dirty="0">
                  <a:latin typeface="Times New Roman" panose="02020603050405020304" pitchFamily="18" charset="0"/>
                </a:rPr>
                <a:t>F(x,xdata)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M-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文件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自变量为</a:t>
              </a:r>
              <a:r>
                <a:rPr lang="en-US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和</a:t>
              </a:r>
              <a:r>
                <a:rPr lang="en-US" altLang="zh-CN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xdata</a:t>
              </a:r>
              <a:endPara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2" name="Line 5"/>
            <p:cNvSpPr/>
            <p:nvPr/>
          </p:nvSpPr>
          <p:spPr>
            <a:xfrm flipV="1">
              <a:off x="1824" y="2688"/>
              <a:ext cx="384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3734" name="Text Box 6"/>
          <p:cNvSpPr txBox="1"/>
          <p:nvPr/>
        </p:nvSpPr>
        <p:spPr>
          <a:xfrm>
            <a:off x="395288" y="4344988"/>
            <a:ext cx="70056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说明：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x = lsqcurvefit (‘fun’,x0,xdata,ydata,options);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4237038" y="4649788"/>
            <a:ext cx="1577975" cy="1381125"/>
            <a:chOff x="2544" y="2832"/>
            <a:chExt cx="994" cy="870"/>
          </a:xfrm>
        </p:grpSpPr>
        <p:sp>
          <p:nvSpPr>
            <p:cNvPr id="29709" name="Text Box 8"/>
            <p:cNvSpPr txBox="1"/>
            <p:nvPr/>
          </p:nvSpPr>
          <p:spPr>
            <a:xfrm>
              <a:off x="2640" y="3408"/>
              <a:ext cx="898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迭代初值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10" name="Line 9"/>
            <p:cNvSpPr/>
            <p:nvPr/>
          </p:nvSpPr>
          <p:spPr>
            <a:xfrm flipH="1" flipV="1">
              <a:off x="2544" y="2832"/>
              <a:ext cx="288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4541838" y="4725988"/>
            <a:ext cx="3028950" cy="1381125"/>
            <a:chOff x="2880" y="2880"/>
            <a:chExt cx="1908" cy="870"/>
          </a:xfrm>
        </p:grpSpPr>
        <p:sp>
          <p:nvSpPr>
            <p:cNvPr id="29706" name="Text Box 11"/>
            <p:cNvSpPr txBox="1"/>
            <p:nvPr/>
          </p:nvSpPr>
          <p:spPr>
            <a:xfrm>
              <a:off x="3696" y="3456"/>
              <a:ext cx="1092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已知数据点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07" name="Line 12"/>
            <p:cNvSpPr/>
            <p:nvPr/>
          </p:nvSpPr>
          <p:spPr>
            <a:xfrm>
              <a:off x="2880" y="288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8" name="Line 13"/>
            <p:cNvSpPr/>
            <p:nvPr/>
          </p:nvSpPr>
          <p:spPr>
            <a:xfrm flipH="1" flipV="1">
              <a:off x="3264" y="2880"/>
              <a:ext cx="528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14"/>
          <p:cNvGrpSpPr/>
          <p:nvPr/>
        </p:nvGrpSpPr>
        <p:grpSpPr>
          <a:xfrm>
            <a:off x="6316663" y="4649788"/>
            <a:ext cx="2720975" cy="1363662"/>
            <a:chOff x="3888" y="3120"/>
            <a:chExt cx="1714" cy="859"/>
          </a:xfrm>
        </p:grpSpPr>
        <p:sp>
          <p:nvSpPr>
            <p:cNvPr id="29704" name="Text Box 15"/>
            <p:cNvSpPr txBox="1"/>
            <p:nvPr/>
          </p:nvSpPr>
          <p:spPr>
            <a:xfrm>
              <a:off x="4704" y="3408"/>
              <a:ext cx="898" cy="571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选项见无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约束优化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05" name="Line 16"/>
            <p:cNvSpPr/>
            <p:nvPr/>
          </p:nvSpPr>
          <p:spPr>
            <a:xfrm flipH="1" flipV="1">
              <a:off x="3888" y="3120"/>
              <a:ext cx="816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2"/>
          <p:cNvSpPr txBox="1"/>
          <p:nvPr/>
        </p:nvSpPr>
        <p:spPr>
          <a:xfrm>
            <a:off x="190500" y="1612265"/>
            <a:ext cx="87630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-533400" algn="just"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2. nlinfit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z=nlinfit(x,y,'fun',x0)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890078" y="2899728"/>
            <a:ext cx="3265487" cy="2781300"/>
            <a:chOff x="796" y="2072"/>
            <a:chExt cx="2057" cy="1752"/>
          </a:xfrm>
        </p:grpSpPr>
        <p:sp>
          <p:nvSpPr>
            <p:cNvPr id="29711" name="Text Box 4"/>
            <p:cNvSpPr txBox="1"/>
            <p:nvPr/>
          </p:nvSpPr>
          <p:spPr>
            <a:xfrm>
              <a:off x="796" y="2976"/>
              <a:ext cx="2057" cy="84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fun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是一个事先建立的定义函数</a:t>
              </a:r>
              <a:r>
                <a:rPr lang="en-US" altLang="en-US" sz="2400" b="1" dirty="0">
                  <a:latin typeface="Times New Roman" panose="02020603050405020304" pitchFamily="18" charset="0"/>
                </a:rPr>
                <a:t>F(x,xdata)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M-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文件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自变量为</a:t>
              </a:r>
              <a:r>
                <a:rPr lang="en-US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和</a:t>
              </a:r>
              <a:r>
                <a:rPr lang="en-US" altLang="zh-CN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xdata</a:t>
              </a:r>
              <a:endPara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2" name="Line 5"/>
            <p:cNvSpPr/>
            <p:nvPr/>
          </p:nvSpPr>
          <p:spPr>
            <a:xfrm flipV="1">
              <a:off x="1824" y="2072"/>
              <a:ext cx="1" cy="9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7"/>
          <p:cNvGrpSpPr/>
          <p:nvPr/>
        </p:nvGrpSpPr>
        <p:grpSpPr>
          <a:xfrm>
            <a:off x="4343083" y="2810828"/>
            <a:ext cx="1577975" cy="1381125"/>
            <a:chOff x="2544" y="2832"/>
            <a:chExt cx="994" cy="870"/>
          </a:xfrm>
        </p:grpSpPr>
        <p:sp>
          <p:nvSpPr>
            <p:cNvPr id="29709" name="Text Box 8"/>
            <p:cNvSpPr txBox="1"/>
            <p:nvPr/>
          </p:nvSpPr>
          <p:spPr>
            <a:xfrm>
              <a:off x="2640" y="3408"/>
              <a:ext cx="898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迭代初值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10" name="Line 9"/>
            <p:cNvSpPr/>
            <p:nvPr/>
          </p:nvSpPr>
          <p:spPr>
            <a:xfrm flipH="1" flipV="1">
              <a:off x="2544" y="2832"/>
              <a:ext cx="288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10"/>
          <p:cNvGrpSpPr/>
          <p:nvPr/>
        </p:nvGrpSpPr>
        <p:grpSpPr>
          <a:xfrm>
            <a:off x="1364616" y="2810828"/>
            <a:ext cx="1733550" cy="1381125"/>
            <a:chOff x="2231" y="2880"/>
            <a:chExt cx="1092" cy="870"/>
          </a:xfrm>
        </p:grpSpPr>
        <p:sp>
          <p:nvSpPr>
            <p:cNvPr id="29706" name="Text Box 11"/>
            <p:cNvSpPr txBox="1"/>
            <p:nvPr/>
          </p:nvSpPr>
          <p:spPr>
            <a:xfrm>
              <a:off x="2231" y="3456"/>
              <a:ext cx="1092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已知数据点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07" name="Line 12"/>
            <p:cNvSpPr/>
            <p:nvPr/>
          </p:nvSpPr>
          <p:spPr>
            <a:xfrm>
              <a:off x="2880" y="2880"/>
              <a:ext cx="3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8" name="Line 13"/>
            <p:cNvSpPr/>
            <p:nvPr/>
          </p:nvSpPr>
          <p:spPr>
            <a:xfrm flipV="1">
              <a:off x="2635" y="2880"/>
              <a:ext cx="485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2"/>
          <p:cNvSpPr txBox="1"/>
          <p:nvPr/>
        </p:nvSpPr>
        <p:spPr>
          <a:xfrm>
            <a:off x="190500" y="1612265"/>
            <a:ext cx="87630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-533400" algn="just" eaLnBrk="1" hangingPunct="1"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       [z,r,J]=nlinfit(x,y,'fun',x0)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473258" y="2899728"/>
            <a:ext cx="3265487" cy="2781300"/>
            <a:chOff x="796" y="2072"/>
            <a:chExt cx="2057" cy="1752"/>
          </a:xfrm>
        </p:grpSpPr>
        <p:sp>
          <p:nvSpPr>
            <p:cNvPr id="29711" name="Text Box 4"/>
            <p:cNvSpPr txBox="1"/>
            <p:nvPr/>
          </p:nvSpPr>
          <p:spPr>
            <a:xfrm>
              <a:off x="796" y="2976"/>
              <a:ext cx="2057" cy="84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fun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是一个事先建立的定义函数</a:t>
              </a:r>
              <a:r>
                <a:rPr lang="en-US" altLang="en-US" sz="2400" b="1" dirty="0">
                  <a:latin typeface="Times New Roman" panose="02020603050405020304" pitchFamily="18" charset="0"/>
                </a:rPr>
                <a:t>F(x,xdata)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M-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文件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自变量为</a:t>
              </a:r>
              <a:r>
                <a:rPr lang="en-US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和</a:t>
              </a:r>
              <a:r>
                <a:rPr lang="en-US" altLang="zh-CN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xdata</a:t>
              </a:r>
              <a:endPara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2" name="Line 5"/>
            <p:cNvSpPr/>
            <p:nvPr/>
          </p:nvSpPr>
          <p:spPr>
            <a:xfrm flipV="1">
              <a:off x="1824" y="2072"/>
              <a:ext cx="1" cy="9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7"/>
          <p:cNvGrpSpPr/>
          <p:nvPr/>
        </p:nvGrpSpPr>
        <p:grpSpPr>
          <a:xfrm>
            <a:off x="6926263" y="2810828"/>
            <a:ext cx="1577975" cy="1381125"/>
            <a:chOff x="2544" y="2832"/>
            <a:chExt cx="994" cy="870"/>
          </a:xfrm>
        </p:grpSpPr>
        <p:sp>
          <p:nvSpPr>
            <p:cNvPr id="29709" name="Text Box 8"/>
            <p:cNvSpPr txBox="1"/>
            <p:nvPr/>
          </p:nvSpPr>
          <p:spPr>
            <a:xfrm>
              <a:off x="2640" y="3408"/>
              <a:ext cx="898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迭代初值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10" name="Line 9"/>
            <p:cNvSpPr/>
            <p:nvPr/>
          </p:nvSpPr>
          <p:spPr>
            <a:xfrm flipH="1" flipV="1">
              <a:off x="2544" y="2832"/>
              <a:ext cx="288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10"/>
          <p:cNvGrpSpPr/>
          <p:nvPr/>
        </p:nvGrpSpPr>
        <p:grpSpPr>
          <a:xfrm>
            <a:off x="3947796" y="2810828"/>
            <a:ext cx="1733550" cy="1381125"/>
            <a:chOff x="2231" y="2880"/>
            <a:chExt cx="1092" cy="870"/>
          </a:xfrm>
        </p:grpSpPr>
        <p:sp>
          <p:nvSpPr>
            <p:cNvPr id="29706" name="Text Box 11"/>
            <p:cNvSpPr txBox="1"/>
            <p:nvPr/>
          </p:nvSpPr>
          <p:spPr>
            <a:xfrm>
              <a:off x="2231" y="3456"/>
              <a:ext cx="1092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已知数据点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707" name="Line 12"/>
            <p:cNvSpPr/>
            <p:nvPr/>
          </p:nvSpPr>
          <p:spPr>
            <a:xfrm>
              <a:off x="2880" y="2880"/>
              <a:ext cx="3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8" name="Line 13"/>
            <p:cNvSpPr/>
            <p:nvPr/>
          </p:nvSpPr>
          <p:spPr>
            <a:xfrm flipV="1">
              <a:off x="2635" y="2880"/>
              <a:ext cx="485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" name="Group 3"/>
          <p:cNvGrpSpPr/>
          <p:nvPr/>
        </p:nvGrpSpPr>
        <p:grpSpPr>
          <a:xfrm>
            <a:off x="1383983" y="2810828"/>
            <a:ext cx="1662112" cy="2686050"/>
            <a:chOff x="1482" y="1936"/>
            <a:chExt cx="1047" cy="1692"/>
          </a:xfrm>
        </p:grpSpPr>
        <p:sp>
          <p:nvSpPr>
            <p:cNvPr id="6" name="Text Box 4"/>
            <p:cNvSpPr txBox="1"/>
            <p:nvPr/>
          </p:nvSpPr>
          <p:spPr>
            <a:xfrm>
              <a:off x="1482" y="3373"/>
              <a:ext cx="824" cy="255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残差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" name="Line 5"/>
            <p:cNvSpPr/>
            <p:nvPr/>
          </p:nvSpPr>
          <p:spPr>
            <a:xfrm flipV="1">
              <a:off x="1818" y="1936"/>
              <a:ext cx="711" cy="14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7"/>
          <p:cNvGrpSpPr/>
          <p:nvPr/>
        </p:nvGrpSpPr>
        <p:grpSpPr>
          <a:xfrm>
            <a:off x="2614931" y="2721928"/>
            <a:ext cx="1712913" cy="2073275"/>
            <a:chOff x="2549" y="2392"/>
            <a:chExt cx="1079" cy="1306"/>
          </a:xfrm>
        </p:grpSpPr>
        <p:sp>
          <p:nvSpPr>
            <p:cNvPr id="9" name="Text Box 8"/>
            <p:cNvSpPr txBox="1"/>
            <p:nvPr/>
          </p:nvSpPr>
          <p:spPr>
            <a:xfrm>
              <a:off x="2549" y="3408"/>
              <a:ext cx="1079" cy="290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雅可比矩阵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Line 9"/>
            <p:cNvSpPr/>
            <p:nvPr/>
          </p:nvSpPr>
          <p:spPr>
            <a:xfrm flipV="1">
              <a:off x="2832" y="2392"/>
              <a:ext cx="204" cy="10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1" name="Group 10"/>
          <p:cNvGrpSpPr/>
          <p:nvPr/>
        </p:nvGrpSpPr>
        <p:grpSpPr>
          <a:xfrm>
            <a:off x="-12700" y="2721579"/>
            <a:ext cx="2842600" cy="1846361"/>
            <a:chOff x="2231" y="2724"/>
            <a:chExt cx="2223" cy="1330"/>
          </a:xfrm>
        </p:grpSpPr>
        <p:sp>
          <p:nvSpPr>
            <p:cNvPr id="12" name="Text Box 11"/>
            <p:cNvSpPr txBox="1"/>
            <p:nvPr/>
          </p:nvSpPr>
          <p:spPr>
            <a:xfrm>
              <a:off x="2231" y="3456"/>
              <a:ext cx="1092" cy="59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已知数据点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Line 13"/>
            <p:cNvSpPr/>
            <p:nvPr/>
          </p:nvSpPr>
          <p:spPr>
            <a:xfrm flipV="1">
              <a:off x="2635" y="2724"/>
              <a:ext cx="1819" cy="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Text Box 2"/>
          <p:cNvSpPr txBox="1"/>
          <p:nvPr/>
        </p:nvSpPr>
        <p:spPr>
          <a:xfrm>
            <a:off x="609600" y="1247775"/>
            <a:ext cx="7924800" cy="2973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8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输入格式为：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x=</a:t>
            </a:r>
            <a:r>
              <a:rPr lang="en-US" altLang="zh-CN" sz="2400" dirty="0">
                <a:latin typeface="宋体" panose="02010600030101010101" pitchFamily="2" charset="-122"/>
              </a:rPr>
              <a:t>lsqnonlin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（‘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fun’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）；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x= </a:t>
            </a:r>
            <a:r>
              <a:rPr lang="en-US" altLang="zh-CN" sz="2400" dirty="0">
                <a:latin typeface="宋体" panose="02010600030101010101" pitchFamily="2" charset="-122"/>
              </a:rPr>
              <a:t>lsqnonlin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（‘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fun’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options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）；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x= </a:t>
            </a:r>
            <a:r>
              <a:rPr lang="en-US" altLang="zh-CN" sz="2400" dirty="0">
                <a:latin typeface="宋体" panose="02010600030101010101" pitchFamily="2" charset="-122"/>
              </a:rPr>
              <a:t>lsqnonlin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（‘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fun’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options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grad’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）；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[x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options]= </a:t>
            </a:r>
            <a:r>
              <a:rPr lang="en-US" altLang="zh-CN" sz="2400" dirty="0">
                <a:latin typeface="宋体" panose="02010600030101010101" pitchFamily="2" charset="-122"/>
              </a:rPr>
              <a:t>lsqnonlin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（‘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fun’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）；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[x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options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funval]= </a:t>
            </a:r>
            <a:r>
              <a:rPr lang="en-US" altLang="zh-CN" sz="2400" dirty="0">
                <a:latin typeface="宋体" panose="02010600030101010101" pitchFamily="2" charset="-122"/>
              </a:rPr>
              <a:t>lsqnonlin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（‘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fun’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x0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）；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9" name="Text Box 3"/>
          <p:cNvSpPr txBox="1"/>
          <p:nvPr/>
        </p:nvSpPr>
        <p:spPr>
          <a:xfrm>
            <a:off x="968375" y="4365625"/>
            <a:ext cx="63928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说明：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x= </a:t>
            </a:r>
            <a:r>
              <a:rPr lang="en-US" altLang="zh-CN" sz="2400" b="1" dirty="0">
                <a:latin typeface="宋体" panose="02010600030101010101" pitchFamily="2" charset="-122"/>
              </a:rPr>
              <a:t>lsqnonlin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fun’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x0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options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）；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371600" y="4670425"/>
            <a:ext cx="3352800" cy="1536700"/>
            <a:chOff x="720" y="2784"/>
            <a:chExt cx="2112" cy="968"/>
          </a:xfrm>
        </p:grpSpPr>
        <p:sp>
          <p:nvSpPr>
            <p:cNvPr id="31755" name="Text Box 5"/>
            <p:cNvSpPr txBox="1"/>
            <p:nvPr/>
          </p:nvSpPr>
          <p:spPr>
            <a:xfrm>
              <a:off x="720" y="3100"/>
              <a:ext cx="2112" cy="652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fun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是一个事先建立的定义函数</a:t>
              </a:r>
              <a:r>
                <a:rPr lang="en-US" altLang="en-US" sz="2400" b="1" i="1" dirty="0">
                  <a:latin typeface="Times New Roman" panose="02020603050405020304" pitchFamily="18" charset="0"/>
                </a:rPr>
                <a:t>f(x)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M-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文件，</a:t>
              </a:r>
              <a:r>
                <a:rPr lang="zh-CN" altLang="en-US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自变量为</a:t>
              </a:r>
              <a:r>
                <a:rPr lang="en-US" altLang="zh-CN" sz="2400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6" name="Line 6"/>
            <p:cNvSpPr/>
            <p:nvPr/>
          </p:nvSpPr>
          <p:spPr>
            <a:xfrm flipV="1">
              <a:off x="2256" y="2784"/>
              <a:ext cx="384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5257800" y="4670425"/>
            <a:ext cx="1577975" cy="1381125"/>
            <a:chOff x="2544" y="2832"/>
            <a:chExt cx="994" cy="870"/>
          </a:xfrm>
        </p:grpSpPr>
        <p:sp>
          <p:nvSpPr>
            <p:cNvPr id="31753" name="Text Box 8"/>
            <p:cNvSpPr txBox="1"/>
            <p:nvPr/>
          </p:nvSpPr>
          <p:spPr>
            <a:xfrm>
              <a:off x="2640" y="3408"/>
              <a:ext cx="898" cy="29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迭代初值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4" name="Line 9"/>
            <p:cNvSpPr/>
            <p:nvPr/>
          </p:nvSpPr>
          <p:spPr>
            <a:xfrm flipH="1" flipV="1">
              <a:off x="2544" y="2832"/>
              <a:ext cx="288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6019800" y="4746625"/>
            <a:ext cx="2720975" cy="1363663"/>
            <a:chOff x="3888" y="3120"/>
            <a:chExt cx="1714" cy="859"/>
          </a:xfrm>
        </p:grpSpPr>
        <p:sp>
          <p:nvSpPr>
            <p:cNvPr id="31751" name="Text Box 11"/>
            <p:cNvSpPr txBox="1"/>
            <p:nvPr/>
          </p:nvSpPr>
          <p:spPr>
            <a:xfrm>
              <a:off x="4704" y="3408"/>
              <a:ext cx="898" cy="571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选项见无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约束优化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2" name="Line 12"/>
            <p:cNvSpPr/>
            <p:nvPr/>
          </p:nvSpPr>
          <p:spPr>
            <a:xfrm flipH="1" flipV="1">
              <a:off x="3888" y="3120"/>
              <a:ext cx="816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0727" name="Text Box 10"/>
          <p:cNvSpPr txBox="1"/>
          <p:nvPr/>
        </p:nvSpPr>
        <p:spPr>
          <a:xfrm>
            <a:off x="374016" y="1057275"/>
            <a:ext cx="16903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3. lsqnonlin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770" name="Group 2"/>
          <p:cNvGrpSpPr/>
          <p:nvPr/>
        </p:nvGrpSpPr>
        <p:grpSpPr>
          <a:xfrm>
            <a:off x="647700" y="2994025"/>
            <a:ext cx="8496300" cy="2019300"/>
            <a:chOff x="408" y="1680"/>
            <a:chExt cx="5352" cy="1272"/>
          </a:xfrm>
        </p:grpSpPr>
        <p:graphicFrame>
          <p:nvGraphicFramePr>
            <p:cNvPr id="32777" name="Object 3"/>
            <p:cNvGraphicFramePr>
              <a:graphicFrameLocks noChangeAspect="1"/>
            </p:cNvGraphicFramePr>
            <p:nvPr/>
          </p:nvGraphicFramePr>
          <p:xfrm>
            <a:off x="408" y="1680"/>
            <a:ext cx="5352" cy="1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" imgW="8496300" imgH="2038350" progId="Word.Document.8">
                    <p:embed/>
                  </p:oleObj>
                </mc:Choice>
                <mc:Fallback>
                  <p:oleObj name="" r:id="rId1" imgW="8496300" imgH="2038350" progId="Word.Document.8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8" y="1680"/>
                          <a:ext cx="5352" cy="1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8" name="Object 4"/>
            <p:cNvGraphicFramePr>
              <a:graphicFrameLocks noChangeAspect="1"/>
            </p:cNvGraphicFramePr>
            <p:nvPr/>
          </p:nvGraphicFramePr>
          <p:xfrm>
            <a:off x="768" y="1680"/>
            <a:ext cx="23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139700" imgH="241300" progId="Equation.3">
                    <p:embed/>
                  </p:oleObj>
                </mc:Choice>
                <mc:Fallback>
                  <p:oleObj name="" r:id="rId3" imgW="139700" imgH="2413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8" y="1680"/>
                          <a:ext cx="23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5"/>
            <p:cNvGraphicFramePr>
              <a:graphicFrameLocks noChangeAspect="1"/>
            </p:cNvGraphicFramePr>
            <p:nvPr/>
          </p:nvGraphicFramePr>
          <p:xfrm>
            <a:off x="624" y="2112"/>
            <a:ext cx="52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482600" imgH="254000" progId="Equation.3">
                    <p:embed/>
                  </p:oleObj>
                </mc:Choice>
                <mc:Fallback>
                  <p:oleObj name="" r:id="rId5" imgW="482600" imgH="2540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4" y="2112"/>
                          <a:ext cx="528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1" name="Text Box 6"/>
          <p:cNvSpPr txBox="1"/>
          <p:nvPr/>
        </p:nvSpPr>
        <p:spPr>
          <a:xfrm>
            <a:off x="2362200" y="5181600"/>
            <a:ext cx="4267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3429000" y="4789488"/>
          <a:ext cx="533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2324100" imgH="444500" progId="Equation.3">
                  <p:embed/>
                </p:oleObj>
              </mc:Choice>
              <mc:Fallback>
                <p:oleObj name="" r:id="rId7" imgW="2324100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9000" y="4789488"/>
                        <a:ext cx="53340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3" name="Group 8"/>
          <p:cNvGrpSpPr/>
          <p:nvPr/>
        </p:nvGrpSpPr>
        <p:grpSpPr>
          <a:xfrm>
            <a:off x="381000" y="1560513"/>
            <a:ext cx="8763000" cy="1230312"/>
            <a:chOff x="0" y="1367"/>
            <a:chExt cx="5520" cy="775"/>
          </a:xfrm>
        </p:grpSpPr>
        <p:sp>
          <p:nvSpPr>
            <p:cNvPr id="32775" name="Text Box 9"/>
            <p:cNvSpPr txBox="1"/>
            <p:nvPr/>
          </p:nvSpPr>
          <p:spPr>
            <a:xfrm>
              <a:off x="0" y="1367"/>
              <a:ext cx="5520" cy="7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 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例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用下面一组数据拟合                       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中的参数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76" name="Object 10"/>
            <p:cNvGraphicFramePr>
              <a:graphicFrameLocks noChangeAspect="1"/>
            </p:cNvGraphicFramePr>
            <p:nvPr/>
          </p:nvGraphicFramePr>
          <p:xfrm>
            <a:off x="3100" y="1368"/>
            <a:ext cx="17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1066800" imgH="228600" progId="Equation.DSMT4">
                    <p:embed/>
                  </p:oleObj>
                </mc:Choice>
                <mc:Fallback>
                  <p:oleObj name="" r:id="rId9" imgW="1066800" imgH="2286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00" y="1368"/>
                          <a:ext cx="1713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811" name="Text Box 11"/>
          <p:cNvSpPr txBox="1"/>
          <p:nvPr/>
        </p:nvSpPr>
        <p:spPr>
          <a:xfrm>
            <a:off x="250825" y="4349750"/>
            <a:ext cx="571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该问题即解最优化问题：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5"/>
          <p:cNvSpPr txBox="1"/>
          <p:nvPr/>
        </p:nvSpPr>
        <p:spPr>
          <a:xfrm>
            <a:off x="7380288" y="476250"/>
            <a:ext cx="1439862" cy="457200"/>
          </a:xfrm>
          <a:prstGeom prst="rect">
            <a:avLst/>
          </a:prstGeom>
          <a:solidFill>
            <a:srgbClr val="FF99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作业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04800" y="1344613"/>
            <a:ext cx="7924800" cy="660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作业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ppt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5275" y="2076450"/>
            <a:ext cx="8021638" cy="776288"/>
            <a:chOff x="144" y="663"/>
            <a:chExt cx="5053" cy="489"/>
          </a:xfrm>
        </p:grpSpPr>
        <p:sp>
          <p:nvSpPr>
            <p:cNvPr id="34824" name="文本框 250887"/>
            <p:cNvSpPr txBox="1"/>
            <p:nvPr/>
          </p:nvSpPr>
          <p:spPr>
            <a:xfrm>
              <a:off x="2008" y="663"/>
              <a:ext cx="3189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latin typeface="仿宋_GB2312" pitchFamily="49" charset="-122"/>
                  <a:ea typeface="仿宋_GB2312" pitchFamily="49" charset="-122"/>
                </a:rPr>
                <a:t>温度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t(</a:t>
              </a:r>
              <a:r>
                <a:rPr lang="en-US" altLang="zh-CN" sz="2000" baseline="30000" dirty="0">
                  <a:latin typeface="Arial" panose="020B0604020202020204" pitchFamily="34" charset="0"/>
                  <a:ea typeface="仿宋_GB2312" pitchFamily="49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C)    20.5   32.7   51.0   73.0   95.7</a:t>
              </a:r>
              <a:endParaRPr lang="en-US" altLang="zh-CN" sz="2000" dirty="0">
                <a:latin typeface="Arial" panose="020B0604020202020204" pitchFamily="34" charset="0"/>
                <a:ea typeface="仿宋_GB2312" pitchFamily="49" charset="-122"/>
              </a:endParaRPr>
            </a:p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latin typeface="仿宋_GB2312" pitchFamily="49" charset="-122"/>
                  <a:ea typeface="仿宋_GB2312" pitchFamily="49" charset="-122"/>
                </a:rPr>
                <a:t>电阻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</a:rPr>
                <a:t>R(</a:t>
              </a:r>
              <a:r>
                <a:rPr lang="en-US" altLang="zh-CN" sz="2000" dirty="0"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)    765    826    873    942   1032</a:t>
              </a:r>
              <a:endParaRPr lang="en-US" altLang="zh-CN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7" name="文本框 250888"/>
            <p:cNvSpPr txBox="1">
              <a:spLocks noChangeArrowheads="1"/>
            </p:cNvSpPr>
            <p:nvPr/>
          </p:nvSpPr>
          <p:spPr bwMode="auto">
            <a:xfrm>
              <a:off x="144" y="768"/>
              <a:ext cx="1864" cy="29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latin typeface="+mn-ea"/>
                  <a:ea typeface="+mn-ea"/>
                  <a:cs typeface="+mn-cs"/>
                </a:rPr>
                <a:t>作业</a:t>
              </a:r>
              <a:r>
                <a:rPr kumimoji="0" lang="en-US" altLang="zh-CN" sz="2400" b="1" kern="1200" cap="none" spc="0" normalizeH="0" baseline="0" noProof="0" dirty="0">
                  <a:latin typeface="+mn-ea"/>
                  <a:ea typeface="+mn-ea"/>
                  <a:cs typeface="+mn-cs"/>
                </a:rPr>
                <a:t>2.</a:t>
              </a:r>
              <a:r>
                <a:rPr kumimoji="0" lang="zh-CN" altLang="en-US" sz="2400" b="1" kern="1200" cap="none" spc="0" normalizeH="0" baseline="0" noProof="0" dirty="0">
                  <a:latin typeface="+mn-ea"/>
                  <a:ea typeface="+mn-ea"/>
                  <a:cs typeface="+mn-cs"/>
                </a:rPr>
                <a:t>多项式拟合</a:t>
              </a:r>
              <a:endPara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4826" name="直接连接符 250889"/>
            <p:cNvSpPr/>
            <p:nvPr/>
          </p:nvSpPr>
          <p:spPr>
            <a:xfrm>
              <a:off x="2141" y="883"/>
              <a:ext cx="27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7" name="直接连接符 250890"/>
            <p:cNvSpPr/>
            <p:nvPr/>
          </p:nvSpPr>
          <p:spPr>
            <a:xfrm>
              <a:off x="2793" y="720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" name="矩形 144385"/>
          <p:cNvSpPr>
            <a:spLocks noChangeArrowheads="1"/>
          </p:cNvSpPr>
          <p:nvPr/>
        </p:nvSpPr>
        <p:spPr bwMode="auto">
          <a:xfrm>
            <a:off x="304800" y="2306638"/>
            <a:ext cx="8839200" cy="312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作业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拟合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假设有一组实测数据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xi   0.1  0.2  0.3  0.4  0.5  0.6  0.7  0.8  0.9  1.0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yi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2.3201  2.647  2.9707  3.2885  3.6008  3.909  4.2147  4.5191 4.8232  5.1275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34822" name="内容占位符 144390"/>
          <p:cNvGraphicFramePr/>
          <p:nvPr/>
        </p:nvGraphicFramePr>
        <p:xfrm>
          <a:off x="2411413" y="4797425"/>
          <a:ext cx="34559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231900" imgH="228600" progId="Equation.3">
                  <p:embed/>
                </p:oleObj>
              </mc:Choice>
              <mc:Fallback>
                <p:oleObj name="" r:id="rId1" imgW="1231900" imgH="228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413" y="4797425"/>
                        <a:ext cx="3455987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44392"/>
          <p:cNvSpPr>
            <a:spLocks noChangeArrowheads="1"/>
          </p:cNvSpPr>
          <p:nvPr/>
        </p:nvSpPr>
        <p:spPr bwMode="auto">
          <a:xfrm>
            <a:off x="179388" y="5445125"/>
            <a:ext cx="882015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试求出满足数据的最小二乘解的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a,b,c,d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的值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。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</p:bldLst>
  </p:timing>
</p:sld>
</file>

<file path=ppt/tags/tag1.xml><?xml version="1.0" encoding="utf-8"?>
<p:tagLst xmlns:p="http://schemas.openxmlformats.org/presentationml/2006/main">
  <p:tag name="KSO_WM_UNIT_TABLE_BEAUTIFY" val="smartTable{2c77db3f-f9f8-4c82-9202-df2fc02867f7}"/>
</p:tagLst>
</file>

<file path=ppt/tags/tag2.xml><?xml version="1.0" encoding="utf-8"?>
<p:tagLst xmlns:p="http://schemas.openxmlformats.org/presentationml/2006/main">
  <p:tag name="KSO_WM_UNIT_TABLE_BEAUTIFY" val="smartTable{1f309f85-6319-425d-817a-4c1b47acec61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6392</Words>
  <Application>WPS 演示</Application>
  <PresentationFormat>全屏显示(4:3)</PresentationFormat>
  <Paragraphs>815</Paragraphs>
  <Slides>43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43</vt:i4>
      </vt:variant>
    </vt:vector>
  </HeadingPairs>
  <TitlesOfParts>
    <vt:vector size="85" baseType="lpstr">
      <vt:lpstr>Arial</vt:lpstr>
      <vt:lpstr>宋体</vt:lpstr>
      <vt:lpstr>Wingdings</vt:lpstr>
      <vt:lpstr>Calibri</vt:lpstr>
      <vt:lpstr>黑体</vt:lpstr>
      <vt:lpstr>Times New Roman</vt:lpstr>
      <vt:lpstr>隶书</vt:lpstr>
      <vt:lpstr>Symbol</vt:lpstr>
      <vt:lpstr>Webdings</vt:lpstr>
      <vt:lpstr>魏碑</vt:lpstr>
      <vt:lpstr>Segoe Print</vt:lpstr>
      <vt:lpstr>Courier New</vt:lpstr>
      <vt:lpstr>仿宋_GB2312</vt:lpstr>
      <vt:lpstr>仿宋</vt:lpstr>
      <vt:lpstr>微软雅黑</vt:lpstr>
      <vt:lpstr>Arial Unicode MS</vt:lpstr>
      <vt:lpstr>Garamond</vt:lpstr>
      <vt:lpstr>楷体</vt:lpstr>
      <vt:lpstr>SymbolMT</vt:lpstr>
      <vt:lpstr>Kozuka Mincho Pr6N R</vt:lpstr>
      <vt:lpstr>魏碑</vt:lpstr>
      <vt:lpstr>仿宋_GB2312</vt:lpstr>
      <vt:lpstr>Office 主题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Equation.DSMT4</vt:lpstr>
      <vt:lpstr>Equation.3</vt:lpstr>
      <vt:lpstr>Equation.3</vt:lpstr>
      <vt:lpstr>Word.Document.8</vt:lpstr>
      <vt:lpstr>Equation.DSMT4</vt:lpstr>
      <vt:lpstr>Equation.DSMT4</vt:lpstr>
      <vt:lpstr>Equation.DSMT4</vt:lpstr>
      <vt:lpstr>Equation.DSMT4</vt:lpstr>
      <vt:lpstr>Equation.3</vt:lpstr>
      <vt:lpstr>Equation.3</vt:lpstr>
      <vt:lpstr>PowerPoint 演示文稿</vt:lpstr>
      <vt:lpstr>二维图形</vt:lpstr>
      <vt:lpstr>二维图形</vt:lpstr>
      <vt:lpstr>二维图形</vt:lpstr>
      <vt:lpstr>二维图形</vt:lpstr>
      <vt:lpstr>绘制图形的辅助操作—图形窗口的分割</vt:lpstr>
      <vt:lpstr>特殊的二维图形</vt:lpstr>
      <vt:lpstr>三维曲线图</vt:lpstr>
      <vt:lpstr>三维网格曲面图</vt:lpstr>
      <vt:lpstr>三维网格曲面图</vt:lpstr>
      <vt:lpstr>三维网格曲面图</vt:lpstr>
      <vt:lpstr>三维网格曲面图</vt:lpstr>
      <vt:lpstr>三维着色曲面图</vt:lpstr>
      <vt:lpstr>插  值</vt:lpstr>
      <vt:lpstr>拉格朗日插值（lagrange插值）</vt:lpstr>
      <vt:lpstr>PowerPoint 演示文稿</vt:lpstr>
      <vt:lpstr>PowerPoint 演示文稿</vt:lpstr>
      <vt:lpstr>PowerPoint 演示文稿</vt:lpstr>
      <vt:lpstr>临近点插值</vt:lpstr>
      <vt:lpstr>分段线性插值</vt:lpstr>
      <vt:lpstr>三次样条插值</vt:lpstr>
      <vt:lpstr>三次多项式插值</vt:lpstr>
      <vt:lpstr>Matlab实现</vt:lpstr>
      <vt:lpstr>Example</vt:lpstr>
      <vt:lpstr>优缺点比较</vt:lpstr>
      <vt:lpstr>二维网格插值</vt:lpstr>
      <vt:lpstr>PowerPoint 演示文稿</vt:lpstr>
      <vt:lpstr>PowerPoint 演示文稿</vt:lpstr>
      <vt:lpstr>二维离散点插值</vt:lpstr>
      <vt:lpstr>PowerPoint 演示文稿</vt:lpstr>
      <vt:lpstr>拟  合</vt:lpstr>
      <vt:lpstr>最小二乘法</vt:lpstr>
      <vt:lpstr>多项式拟合</vt:lpstr>
      <vt:lpstr>PowerPoint 演示文稿</vt:lpstr>
      <vt:lpstr>PowerPoint 演示文稿</vt:lpstr>
      <vt:lpstr>Example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Lenovo</cp:lastModifiedBy>
  <cp:revision>1291</cp:revision>
  <cp:lastPrinted>2018-07-17T01:37:06Z</cp:lastPrinted>
  <dcterms:created xsi:type="dcterms:W3CDTF">2014-01-21T18:23:30Z</dcterms:created>
  <dcterms:modified xsi:type="dcterms:W3CDTF">2026-07-09T00:17:09Z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2052-11.8.2.8411</vt:lpwstr>
  </property>
</Properties>
</file>